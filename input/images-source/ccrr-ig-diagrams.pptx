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12"/>
  </p:notesMasterIdLst>
  <p:sldIdLst>
    <p:sldId id="2458" r:id="rId3"/>
    <p:sldId id="2455" r:id="rId4"/>
    <p:sldId id="2457" r:id="rId5"/>
    <p:sldId id="2459" r:id="rId6"/>
    <p:sldId id="265" r:id="rId7"/>
    <p:sldId id="2460" r:id="rId8"/>
    <p:sldId id="2456" r:id="rId9"/>
    <p:sldId id="259" r:id="rId10"/>
    <p:sldId id="245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122" autoAdjust="0"/>
  </p:normalViewPr>
  <p:slideViewPr>
    <p:cSldViewPr snapToGrid="0">
      <p:cViewPr>
        <p:scale>
          <a:sx n="100" d="100"/>
          <a:sy n="100" d="100"/>
        </p:scale>
        <p:origin x="-628" y="-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7FB07-E237-456B-A4F0-F2C4672E0DE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F0BED-B13B-4D96-A074-5E77AD0A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5492-9A09-B345-2AF0-82A6C449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A69D6-F9BB-55E4-432F-B5D802D00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23842-0A7A-BE3C-CC98-E4CC09428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descriptions for each step in the above diagram include: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1: The Data Submitter creates a notification (e.g., subscription, CDS hook, v2 message) in the Data Source’s FHIR server so that it can be notified when specific events occur in the clinical workflow.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2: The Provider, as part of its clinical workflow, update the patient’s data in the Data Source.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3: The Data Source notifies the Data Submitter based on notifications created in Step 1.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4: The Data Submitter queries the Data Source for the patient’s data.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4a: The Data Submitter receives the response from the Data Source with the patient’s data.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5: The Data Submitter evaluates the data and creates the report if criteria is met.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6: When a report is generated, the Data Submitter submits the created report to the Data Receiver.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9E906-8094-DDBF-7F04-40806743F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F0BED-B13B-4D96-A074-5E77AD0A6E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7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descriptions for each step in the above diagram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1: A Provider as part of their clinical workflow updates the data in the Data Source’s patient chart.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2: The Data Submitter which is part of the Data Source evaluates the data to determine if a report needs to be generated.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3: When a report is created, the Data Submitter submits the report to the Data Receiver.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F0BED-B13B-4D96-A074-5E77AD0A6E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73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5BCFED-F310-6345-AB19-EBBEF8BF5E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392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descriptions for each step in the above diagram include: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1: The Data Submitter creates a notification (e.g., subscription, CDS Hook, v2 message) in the Data Source’s so that it can be notified when specific events occur in clinical workflows.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2: Providers as part of their clinical workflows update the data in the Data Source’s patient chart.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3: The Data Source notifies the Data Submitter based on notifications created in Step 1.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4: The Data Submitter queries the Data Source for patient’s data.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Step 4a: Data Submitter receives the response from the Data Source with the patient’s data.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Step 5: The Data Submitter evaluates the changes to determine if a report needs to be generated.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Step 6: The Data Submitter submits the created report to the Data Receiver.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F0BED-B13B-4D96-A074-5E77AD0A6E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26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1C4AD-94D7-443E-B114-F0C84C8F8D8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36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33400"/>
          </a:xfrm>
        </p:spPr>
        <p:txBody>
          <a:bodyPr/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9832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00006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04083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</p:spPr>
        <p:txBody>
          <a:bodyPr>
            <a:norm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90746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143000"/>
          </a:xfrm>
        </p:spPr>
        <p:txBody>
          <a:bodyPr>
            <a:norm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1859760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392526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400" b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83688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93854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  <p:pic>
        <p:nvPicPr>
          <p:cNvPr id="6" name="Picture 9" descr="ESAC Inc Logo_July_20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48801" y="6096003"/>
            <a:ext cx="2218267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2539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07780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13"/>
          <p:cNvSpPr>
            <a:spLocks/>
          </p:cNvSpPr>
          <p:nvPr/>
        </p:nvSpPr>
        <p:spPr bwMode="auto">
          <a:xfrm rot="420000" flipV="1">
            <a:off x="4220633" y="1108075"/>
            <a:ext cx="7010400" cy="4114800"/>
          </a:xfrm>
          <a:custGeom>
            <a:avLst/>
            <a:gdLst>
              <a:gd name="T0" fmla="*/ 0 w 5257800"/>
              <a:gd name="T1" fmla="*/ 0 h 4114800"/>
              <a:gd name="T2" fmla="*/ 5107772 w 5257800"/>
              <a:gd name="T3" fmla="*/ 0 h 4114800"/>
              <a:gd name="T4" fmla="*/ 5257800 w 5257800"/>
              <a:gd name="T5" fmla="*/ 150026 h 4114800"/>
              <a:gd name="T6" fmla="*/ 5257800 w 5257800"/>
              <a:gd name="T7" fmla="*/ 4114800 h 4114800"/>
              <a:gd name="T8" fmla="*/ 0 w 5257800"/>
              <a:gd name="T9" fmla="*/ 4114800 h 4114800"/>
              <a:gd name="T10" fmla="*/ 0 w 5257800"/>
              <a:gd name="T11" fmla="*/ 0 h 4114800"/>
              <a:gd name="T12" fmla="*/ 0 w 5257800"/>
              <a:gd name="T13" fmla="*/ 0 h 41148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57800"/>
              <a:gd name="T22" fmla="*/ 0 h 4114800"/>
              <a:gd name="T23" fmla="*/ 5257800 w 5257800"/>
              <a:gd name="T24" fmla="*/ 4114800 h 41148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57800" h="4114800">
                <a:moveTo>
                  <a:pt x="0" y="0"/>
                </a:moveTo>
                <a:lnTo>
                  <a:pt x="5107774" y="0"/>
                </a:lnTo>
                <a:lnTo>
                  <a:pt x="5257800" y="150026"/>
                </a:lnTo>
                <a:lnTo>
                  <a:pt x="5257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rnd" cmpd="sng">
            <a:solidFill>
              <a:srgbClr val="C0C0C0"/>
            </a:solidFill>
            <a:prstDash val="solid"/>
            <a:round/>
            <a:headEnd/>
            <a:tailEnd/>
          </a:ln>
          <a:effectLst>
            <a:outerShdw dist="38500" dir="7500041" sx="98500" sy="100079" kx="99984" algn="tl" rotWithShape="0">
              <a:srgbClr val="000000">
                <a:alpha val="25000"/>
              </a:srgbClr>
            </a:outerShdw>
          </a:effectLst>
        </p:spPr>
        <p:txBody>
          <a:bodyPr anchor="ctr"/>
          <a:lstStyle/>
          <a:p>
            <a:pPr defTabSz="457189"/>
            <a:endParaRPr lang="en-US" sz="1800" dirty="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" name="Right Triangle 14"/>
          <p:cNvSpPr>
            <a:spLocks noChangeArrowheads="1"/>
          </p:cNvSpPr>
          <p:nvPr/>
        </p:nvSpPr>
        <p:spPr bwMode="auto">
          <a:xfrm rot="420000" flipV="1">
            <a:off x="10672236" y="5359403"/>
            <a:ext cx="207433" cy="155575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bevel/>
            <a:headEnd/>
            <a:tailEnd/>
          </a:ln>
          <a:effectLst>
            <a:outerShdw dist="6350" dir="12899787" algn="tl" rotWithShape="0">
              <a:srgbClr val="808080">
                <a:alpha val="46999"/>
              </a:srgbClr>
            </a:outerShdw>
          </a:effectLst>
        </p:spPr>
        <p:txBody>
          <a:bodyPr anchor="ctr"/>
          <a:lstStyle/>
          <a:p>
            <a:pPr algn="ctr" defTabSz="457189"/>
            <a:endParaRPr lang="en-US" sz="1800" dirty="0">
              <a:solidFill>
                <a:srgbClr val="FFFFFF"/>
              </a:solidFill>
              <a:latin typeface="Constantia" pitchFamily="18" charset="0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457189">
              <a:defRPr/>
            </a:pPr>
            <a:endParaRPr lang="en-US" sz="1800" dirty="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8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457189">
              <a:defRPr/>
            </a:pPr>
            <a:endParaRPr lang="en-US" sz="1800" dirty="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9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1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3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  <p:pic>
        <p:nvPicPr>
          <p:cNvPr id="12" name="Picture 9" descr="ESAC Inc Logo_July_20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48801" y="6096003"/>
            <a:ext cx="2218267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6686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305462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76EF8-0209-C949-9DAA-A21557B1487A}" type="datetimeFigureOut">
              <a:rPr lang="en-US" smtClean="0">
                <a:latin typeface="Constantia"/>
              </a:rPr>
              <a:pPr/>
              <a:t>8/24/2026</a:t>
            </a:fld>
            <a:endParaRPr lang="en-US" dirty="0">
              <a:latin typeface="Constantia"/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84B47-0E05-734E-BA01-58F1CC94543B}" type="slidenum">
              <a:rPr lang="en-US" smtClean="0">
                <a:latin typeface="Constantia"/>
              </a:rPr>
              <a:pPr/>
              <a:t>‹#›</a:t>
            </a:fld>
            <a:endParaRPr lang="en-US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492877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14"/>
          <p:cNvSpPr>
            <a:spLocks noChangeArrowheads="1"/>
          </p:cNvSpPr>
          <p:nvPr/>
        </p:nvSpPr>
        <p:spPr bwMode="auto">
          <a:xfrm rot="420000" flipV="1">
            <a:off x="10672236" y="5359403"/>
            <a:ext cx="207433" cy="155575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bevel/>
            <a:headEnd/>
            <a:tailEnd/>
          </a:ln>
          <a:effectLst>
            <a:outerShdw dist="6350" dir="12899787" algn="tl" rotWithShape="0">
              <a:srgbClr val="808080">
                <a:alpha val="46999"/>
              </a:srgbClr>
            </a:outerShdw>
          </a:effectLst>
        </p:spPr>
        <p:txBody>
          <a:bodyPr anchor="ctr"/>
          <a:lstStyle/>
          <a:p>
            <a:pPr algn="ctr" defTabSz="457189"/>
            <a:endParaRPr lang="en-US" sz="1800" dirty="0">
              <a:solidFill>
                <a:srgbClr val="FFFFFF"/>
              </a:solidFill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73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FC8E-488B-CD4A-94DB-BD790A145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76CCD-B727-CB44-8E85-E50B5FEE3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DB6B9-244A-B046-B17D-7831C678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73EF4-25B8-3744-923B-14A26C47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A4778-E6E6-E947-96D8-33C41946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14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DD92-4CE1-2344-9484-0D8E621B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3FB29-D3FF-F84F-A5F2-A03041D48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14C45-0AF5-E44D-A193-A284CEA4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7E126-D720-7A4F-A95C-DE4D793C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1B5F0-995B-484B-A0DF-35B1E330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1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737B-94FD-6D40-9F5A-13D6F01CD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586FC-3EF1-A741-A7B3-BBF8D425C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CFA44-55E5-6049-B7BD-6DBD004F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B5063-8AB1-9B41-B87E-CEB2833D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CAB7C-A138-8A4A-B9F8-B2E4C507D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99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79B8-87FB-C442-8276-50D5A0FD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F1DF3-255A-3C41-89FC-3BC4BB71A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9A18C-A442-FF49-B758-D4D18F597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BFCB0-E40A-CD4B-92EE-1C9EB5F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41C6D-089D-2145-A74A-058163B9B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87F29-820A-3442-96D3-429E454C6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710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1AA11-634C-EE48-9270-10DDE63D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B73CB-415C-D94B-92E1-2A401AD51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662BF-6A3A-2D4E-9D21-0D2088875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52EED-B967-814B-91A8-C3A0CA4AE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2140E-9FCC-F143-9F1C-56B48B2F2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AA51C2-82E9-8A40-B5C8-45CFCC896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2520B6-AAB6-9046-AB03-C2BA1756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7FA5D-A6B3-D745-9A52-41E8867C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52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F4F9-7424-E14D-9153-402BBBAE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3884F-E9CC-0A42-9FDB-01788BB3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F4B06-4F08-4944-8213-BC60E1F5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A21C6-399E-024A-A3DD-1E5E77CB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96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A81678-8B75-994D-980F-7BB84E78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84CE8-C0F7-0043-BA53-8BEFB9DC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F0A79-08BB-384F-8B0D-97E45537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688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AA64-6B37-AD41-AF17-0C406C37F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306EF-8301-8546-807A-2A60D6050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56EA7-E57D-4446-A347-352F0AD23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B9DFB-12FC-5148-9E90-00497667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DB96D-8446-C448-98C4-4AD54F2F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7F68A-364D-014A-BDAF-5D10034C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66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8B1CF-FA66-4048-B17B-F399C22E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03B30-CD7C-E04A-99A6-CD5F24A9D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010F3-FE83-B449-B996-5BAA3B662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B9C58-8C16-A94F-B039-36C8620A3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28D6B-D8C5-E14D-B702-761A402B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0510D-AFE1-9748-9C03-438CC16A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50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6699-6067-8B45-A389-339F1445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63FEA-52B2-AB46-BCE4-DD57AD5DF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704F-739A-4545-A1E6-D62E8578C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2FBBF-EFD4-2842-AF33-D2F701C3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8074E-1AB4-A046-AAC2-1AE3A5F2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582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A95F5-7C1C-C841-9DD5-F6912557E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5BB89-BC61-1548-A6FB-78B63B76B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7BC68-F41F-A84D-BE26-6A309A84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5BE2A-7ECD-5141-A75C-0087139A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6BB09-CCFE-0841-BF04-F639AB14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8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457203"/>
            <a:ext cx="10972800" cy="53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29540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2C5490"/>
                </a:solidFill>
              </a:defRPr>
            </a:lvl1pPr>
          </a:lstStyle>
          <a:p>
            <a:pPr defTabSz="457189"/>
            <a:fld id="{B0F76EF8-0209-C949-9DAA-A21557B1487A}" type="datetimeFigureOut">
              <a:rPr lang="en-US" smtClean="0"/>
              <a:pPr defTabSz="457189"/>
              <a:t>8/24/2026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3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 defTabSz="457189"/>
            <a:endParaRPr lang="en-US" dirty="0">
              <a:solidFill>
                <a:srgbClr val="2F5897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3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2C5490"/>
                </a:solidFill>
              </a:defRPr>
            </a:lvl1pPr>
          </a:lstStyle>
          <a:p>
            <a:pPr defTabSz="457189"/>
            <a:fld id="{1A984B47-0E05-734E-BA01-58F1CC94543B}" type="slidenum">
              <a:rPr lang="en-US" smtClean="0"/>
              <a:pPr defTabSz="457189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8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 baseline="0">
          <a:solidFill>
            <a:schemeClr val="tx2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273044" indent="-273044" algn="l" rtl="0" eaLnBrk="1" fontAlgn="base" hangingPunct="1">
        <a:spcBef>
          <a:spcPct val="20000"/>
        </a:spcBef>
        <a:spcAft>
          <a:spcPct val="0"/>
        </a:spcAft>
        <a:buClr>
          <a:srgbClr val="E68422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639747" indent="-2460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914377" indent="-24605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187421" indent="-209545" algn="l" rtl="0" eaLnBrk="1" fontAlgn="base" hangingPunct="1">
        <a:spcBef>
          <a:spcPct val="20000"/>
        </a:spcBef>
        <a:spcAft>
          <a:spcPct val="0"/>
        </a:spcAft>
        <a:buClr>
          <a:srgbClr val="E68422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4pPr>
      <a:lvl5pPr marL="1462051" indent="-209545" algn="l" rtl="0" eaLnBrk="1" fontAlgn="base" hangingPunct="1">
        <a:spcBef>
          <a:spcPct val="20000"/>
        </a:spcBef>
        <a:spcAft>
          <a:spcPct val="0"/>
        </a:spcAft>
        <a:buClr>
          <a:srgbClr val="846648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5pPr>
      <a:lvl6pPr marL="1737317" indent="-210307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192" indent="-182875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05" indent="-182875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18" indent="-182875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CA2D7-E446-EF4A-9AE1-BD8B28C4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0BC2A-EE83-AE4D-81F9-E833BFE4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4A099-2D63-6344-B7D9-12BB17147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B6B97-D1D7-444D-A37B-F21E0BA680D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5E2B-7202-9F41-A251-642A449D3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14F8A-82F3-4D42-9070-9D2FD1E7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EACB8-E9AE-354B-A140-3CC76DD1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0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B344-5C02-B0C0-C9D5-8D3CC15C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7483C705-1F21-A668-2A53-7D175E482DE6}"/>
              </a:ext>
            </a:extLst>
          </p:cNvPr>
          <p:cNvGrpSpPr/>
          <p:nvPr/>
        </p:nvGrpSpPr>
        <p:grpSpPr>
          <a:xfrm>
            <a:off x="1494624" y="871803"/>
            <a:ext cx="7280316" cy="4759377"/>
            <a:chOff x="1494624" y="871803"/>
            <a:chExt cx="7280316" cy="475937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553DB-9C6E-CAB2-C65D-AF30686D38BA}"/>
                </a:ext>
              </a:extLst>
            </p:cNvPr>
            <p:cNvSpPr/>
            <p:nvPr/>
          </p:nvSpPr>
          <p:spPr>
            <a:xfrm>
              <a:off x="1494624" y="871803"/>
              <a:ext cx="4067606" cy="47593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1104F2-CD59-6A7C-22FB-CAD6BAE81ED9}"/>
                </a:ext>
              </a:extLst>
            </p:cNvPr>
            <p:cNvSpPr/>
            <p:nvPr/>
          </p:nvSpPr>
          <p:spPr>
            <a:xfrm>
              <a:off x="3572181" y="943268"/>
              <a:ext cx="1828800" cy="109728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Source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(e.g., EHR, HIE)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FAF7D169-BCDA-C630-E7AE-788477D461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1267" y="1131951"/>
              <a:ext cx="1017213" cy="682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456BDE-68E9-0B24-2EA4-3BC21C0EF139}"/>
                </a:ext>
              </a:extLst>
            </p:cNvPr>
            <p:cNvSpPr/>
            <p:nvPr/>
          </p:nvSpPr>
          <p:spPr>
            <a:xfrm>
              <a:off x="3605303" y="3756546"/>
              <a:ext cx="1828800" cy="109728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Submitter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230CD3-16F8-2CBA-71AD-C6EEB0622794}"/>
                </a:ext>
              </a:extLst>
            </p:cNvPr>
            <p:cNvSpPr txBox="1"/>
            <p:nvPr/>
          </p:nvSpPr>
          <p:spPr>
            <a:xfrm>
              <a:off x="1918466" y="1829284"/>
              <a:ext cx="5870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Provider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60D8D4-954D-1CF5-CD49-BDC77F8F4AB8}"/>
                </a:ext>
              </a:extLst>
            </p:cNvPr>
            <p:cNvSpPr/>
            <p:nvPr/>
          </p:nvSpPr>
          <p:spPr>
            <a:xfrm>
              <a:off x="7216081" y="3881194"/>
              <a:ext cx="1282018" cy="11261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Receiver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(e.g., </a:t>
              </a:r>
              <a:r>
                <a:rPr lang="en-US" sz="14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Central Cancer Registry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)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7E122BD-FDD9-6FFA-449C-E2EBFC2D9748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>
              <a:off x="2818480" y="1473345"/>
              <a:ext cx="753701" cy="185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7A977F-1814-8C93-AB69-F949BD0EB651}"/>
                </a:ext>
              </a:extLst>
            </p:cNvPr>
            <p:cNvSpPr txBox="1"/>
            <p:nvPr/>
          </p:nvSpPr>
          <p:spPr>
            <a:xfrm>
              <a:off x="2911794" y="997762"/>
              <a:ext cx="657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Updates/Sign off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8DB711B-C033-C4A6-D40B-C23F42F2E212}"/>
                </a:ext>
              </a:extLst>
            </p:cNvPr>
            <p:cNvCxnSpPr>
              <a:cxnSpLocks/>
            </p:cNvCxnSpPr>
            <p:nvPr/>
          </p:nvCxnSpPr>
          <p:spPr>
            <a:xfrm>
              <a:off x="4066853" y="2042235"/>
              <a:ext cx="0" cy="17143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AECF793-0742-BEC9-33D4-301C36BC5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096" y="2033252"/>
              <a:ext cx="10776" cy="17143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5206891-968C-90B9-EDBC-C12D09BB4065}"/>
                </a:ext>
              </a:extLst>
            </p:cNvPr>
            <p:cNvCxnSpPr>
              <a:cxnSpLocks/>
            </p:cNvCxnSpPr>
            <p:nvPr/>
          </p:nvCxnSpPr>
          <p:spPr>
            <a:xfrm>
              <a:off x="5415459" y="4458463"/>
              <a:ext cx="18006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F166236-6901-9C03-39FF-C0C60220A141}"/>
                </a:ext>
              </a:extLst>
            </p:cNvPr>
            <p:cNvSpPr txBox="1"/>
            <p:nvPr/>
          </p:nvSpPr>
          <p:spPr>
            <a:xfrm>
              <a:off x="6244482" y="4245908"/>
              <a:ext cx="76337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Report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576910-05E4-66B6-4D9B-34F7CF653156}"/>
                </a:ext>
              </a:extLst>
            </p:cNvPr>
            <p:cNvSpPr txBox="1"/>
            <p:nvPr/>
          </p:nvSpPr>
          <p:spPr>
            <a:xfrm>
              <a:off x="1836247" y="5331768"/>
              <a:ext cx="21105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Source Organization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76E028-F479-0DFA-6CC3-5AA74A830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476" y="2038332"/>
              <a:ext cx="0" cy="17182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B4220E-D3C8-8723-CF83-442E60819D22}"/>
                </a:ext>
              </a:extLst>
            </p:cNvPr>
            <p:cNvSpPr txBox="1"/>
            <p:nvPr/>
          </p:nvSpPr>
          <p:spPr>
            <a:xfrm rot="5400000">
              <a:off x="3762717" y="2882978"/>
              <a:ext cx="7809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Notification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F2B99CE-7C0C-88CD-2615-BD09044B8000}"/>
                </a:ext>
              </a:extLst>
            </p:cNvPr>
            <p:cNvSpPr txBox="1"/>
            <p:nvPr/>
          </p:nvSpPr>
          <p:spPr>
            <a:xfrm rot="5400000">
              <a:off x="3160185" y="2635423"/>
              <a:ext cx="118814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Notification Creation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606A31B-7589-5156-96B7-0973756BA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4411" y="2042235"/>
              <a:ext cx="0" cy="1714311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12DD364-F327-2FED-C7D8-38FF24AAE828}"/>
                </a:ext>
              </a:extLst>
            </p:cNvPr>
            <p:cNvSpPr txBox="1"/>
            <p:nvPr/>
          </p:nvSpPr>
          <p:spPr>
            <a:xfrm rot="5400000">
              <a:off x="4289051" y="2878363"/>
              <a:ext cx="12799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Queries Response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C2697D9-C750-481E-8A3F-446F63F833BE}"/>
                </a:ext>
              </a:extLst>
            </p:cNvPr>
            <p:cNvSpPr/>
            <p:nvPr/>
          </p:nvSpPr>
          <p:spPr>
            <a:xfrm>
              <a:off x="5752975" y="4305226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4460F71-1AEE-27B0-2152-02B5E7ED71A7}"/>
                </a:ext>
              </a:extLst>
            </p:cNvPr>
            <p:cNvSpPr/>
            <p:nvPr/>
          </p:nvSpPr>
          <p:spPr>
            <a:xfrm>
              <a:off x="4601820" y="2119360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4a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9586BCB-7D85-0739-E097-5042D55B3808}"/>
                </a:ext>
              </a:extLst>
            </p:cNvPr>
            <p:cNvSpPr/>
            <p:nvPr/>
          </p:nvSpPr>
          <p:spPr>
            <a:xfrm>
              <a:off x="4209147" y="3274168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BCB66BC-78AA-C23D-B5D5-18B56828AAE5}"/>
                </a:ext>
              </a:extLst>
            </p:cNvPr>
            <p:cNvSpPr/>
            <p:nvPr/>
          </p:nvSpPr>
          <p:spPr>
            <a:xfrm>
              <a:off x="3820097" y="2089271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DD42B71-A516-2562-2F7E-666E136CD8BB}"/>
                </a:ext>
              </a:extLst>
            </p:cNvPr>
            <p:cNvSpPr/>
            <p:nvPr/>
          </p:nvSpPr>
          <p:spPr>
            <a:xfrm>
              <a:off x="3460989" y="3283837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BCD45DD-7AB5-51B4-5317-E762564A8845}"/>
                </a:ext>
              </a:extLst>
            </p:cNvPr>
            <p:cNvSpPr/>
            <p:nvPr/>
          </p:nvSpPr>
          <p:spPr>
            <a:xfrm>
              <a:off x="2920700" y="1337161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FDFD5D-D375-9626-87FA-81B8D0619614}"/>
                </a:ext>
              </a:extLst>
            </p:cNvPr>
            <p:cNvSpPr txBox="1"/>
            <p:nvPr/>
          </p:nvSpPr>
          <p:spPr>
            <a:xfrm rot="5400000">
              <a:off x="4098770" y="2820074"/>
              <a:ext cx="8354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Queries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0BFAD77-E439-9DD2-9723-4BBDFEB9ED9B}"/>
                </a:ext>
              </a:extLst>
            </p:cNvPr>
            <p:cNvSpPr/>
            <p:nvPr/>
          </p:nvSpPr>
          <p:spPr>
            <a:xfrm>
              <a:off x="6964024" y="3617067"/>
              <a:ext cx="1810916" cy="172996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DC81E4A-5DCD-CCDF-2B0E-350978D47679}"/>
                </a:ext>
              </a:extLst>
            </p:cNvPr>
            <p:cNvSpPr txBox="1"/>
            <p:nvPr/>
          </p:nvSpPr>
          <p:spPr>
            <a:xfrm>
              <a:off x="7132299" y="5105784"/>
              <a:ext cx="159678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Receiver Organization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084574-2899-DDC9-CAE4-1AA9618A4C5B}"/>
                </a:ext>
              </a:extLst>
            </p:cNvPr>
            <p:cNvSpPr txBox="1"/>
            <p:nvPr/>
          </p:nvSpPr>
          <p:spPr>
            <a:xfrm>
              <a:off x="3305175" y="4908497"/>
              <a:ext cx="1000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Evaluate Data /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Create Report</a:t>
              </a:r>
            </a:p>
          </p:txBody>
        </p:sp>
        <p:cxnSp>
          <p:nvCxnSpPr>
            <p:cNvPr id="3" name="Connector: Elbow 2">
              <a:extLst>
                <a:ext uri="{FF2B5EF4-FFF2-40B4-BE49-F238E27FC236}">
                  <a16:creationId xmlns:a16="http://schemas.microsoft.com/office/drawing/2014/main" id="{2ACBCCC2-3471-4FBB-47FF-D759A49F9B89}"/>
                </a:ext>
              </a:extLst>
            </p:cNvPr>
            <p:cNvCxnSpPr>
              <a:cxnSpLocks/>
            </p:cNvCxnSpPr>
            <p:nvPr/>
          </p:nvCxnSpPr>
          <p:spPr>
            <a:xfrm>
              <a:off x="4261092" y="4859058"/>
              <a:ext cx="564267" cy="12700"/>
            </a:xfrm>
            <a:prstGeom prst="bentConnector4">
              <a:avLst>
                <a:gd name="adj1" fmla="val -14635"/>
                <a:gd name="adj2" fmla="val 45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AB2D476-0F8E-9865-E12A-F6D2D6C8EF79}"/>
                </a:ext>
              </a:extLst>
            </p:cNvPr>
            <p:cNvSpPr/>
            <p:nvPr/>
          </p:nvSpPr>
          <p:spPr>
            <a:xfrm>
              <a:off x="4582470" y="4998528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909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76DF-275A-1E42-91BC-BDF76941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284" y="304801"/>
            <a:ext cx="8229600" cy="533395"/>
          </a:xfrm>
        </p:spPr>
        <p:txBody>
          <a:bodyPr>
            <a:noAutofit/>
          </a:bodyPr>
          <a:lstStyle/>
          <a:p>
            <a:r>
              <a:rPr lang="en-US" sz="2400" dirty="0"/>
              <a:t>Cancer Actors and Systems Interaction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5E145-6378-FE4B-91A4-DCD682520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295401"/>
            <a:ext cx="8763000" cy="4389437"/>
          </a:xfrm>
        </p:spPr>
        <p:txBody>
          <a:bodyPr/>
          <a:lstStyle/>
          <a:p>
            <a:r>
              <a:rPr lang="en-US" sz="1800" dirty="0"/>
              <a:t>Step 1: The Data Submitter creates a notification (e.g., subscription, CDS hook, v2 message) in the Data Source’s FHIR server so that it can be notified when specific events occur in the clinical workflow.</a:t>
            </a:r>
          </a:p>
          <a:p>
            <a:r>
              <a:rPr lang="en-US" sz="1800" dirty="0"/>
              <a:t>Step 2: The Provider, as part of its clinical workflow, update the patient’s data in the Data Source.</a:t>
            </a:r>
          </a:p>
          <a:p>
            <a:r>
              <a:rPr lang="en-US" sz="1800" dirty="0"/>
              <a:t>Step 3: The Data Source notifies the Data Submitter based on notifications created in Step 1.</a:t>
            </a:r>
          </a:p>
          <a:p>
            <a:r>
              <a:rPr lang="en-US" sz="1800" dirty="0"/>
              <a:t>Step 4: The Data Submitter queries the Data Source for the patient’s data.</a:t>
            </a:r>
          </a:p>
          <a:p>
            <a:r>
              <a:rPr lang="en-US" sz="1800" dirty="0"/>
              <a:t>Step 4a: The Data Submitter receives the response from the Data Source with the patient’s data.</a:t>
            </a:r>
          </a:p>
          <a:p>
            <a:r>
              <a:rPr lang="en-US" sz="1800" dirty="0"/>
              <a:t>Step 5: The Data Submitter evaluates the data and creates the report if criteria are met.</a:t>
            </a:r>
          </a:p>
          <a:p>
            <a:r>
              <a:rPr lang="en-US" sz="1800" dirty="0"/>
              <a:t>Step 6: When a report is generated, the Data Submitter submits the created report to the Data Receiver.</a:t>
            </a:r>
          </a:p>
          <a:p>
            <a:pPr lvl="1"/>
            <a:endParaRPr lang="en-US" sz="700" dirty="0">
              <a:latin typeface="+mj-lt"/>
            </a:endParaRPr>
          </a:p>
          <a:p>
            <a:pPr lvl="1"/>
            <a:endParaRPr lang="en-US" sz="700" dirty="0">
              <a:latin typeface="+mj-lt"/>
            </a:endParaRPr>
          </a:p>
          <a:p>
            <a:pPr lvl="1"/>
            <a:endParaRPr lang="en-US" sz="700" dirty="0">
              <a:latin typeface="+mj-lt"/>
            </a:endParaRPr>
          </a:p>
          <a:p>
            <a:pPr lvl="1"/>
            <a:endParaRPr lang="en-US" sz="700" dirty="0">
              <a:latin typeface="+mj-lt"/>
            </a:endParaRPr>
          </a:p>
          <a:p>
            <a:pPr lvl="1"/>
            <a:endParaRPr lang="en-US" sz="700" dirty="0">
              <a:latin typeface="+mj-lt"/>
            </a:endParaRPr>
          </a:p>
          <a:p>
            <a:pPr lvl="1"/>
            <a:endParaRPr lang="en-US" sz="700" dirty="0">
              <a:latin typeface="+mj-lt"/>
            </a:endParaRPr>
          </a:p>
          <a:p>
            <a:endParaRPr 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6454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537AB6D0-0915-1646-635F-252239075331}"/>
              </a:ext>
            </a:extLst>
          </p:cNvPr>
          <p:cNvGrpSpPr/>
          <p:nvPr/>
        </p:nvGrpSpPr>
        <p:grpSpPr>
          <a:xfrm>
            <a:off x="1567071" y="910440"/>
            <a:ext cx="6829692" cy="3407560"/>
            <a:chOff x="1567071" y="910440"/>
            <a:chExt cx="6829692" cy="34075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13321C-B915-7050-17D5-DDD9757B9328}"/>
                </a:ext>
              </a:extLst>
            </p:cNvPr>
            <p:cNvSpPr/>
            <p:nvPr/>
          </p:nvSpPr>
          <p:spPr>
            <a:xfrm>
              <a:off x="1567071" y="910440"/>
              <a:ext cx="4209809" cy="34075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A57CC71-B787-3001-9299-AEE495EAD8DB}"/>
                </a:ext>
              </a:extLst>
            </p:cNvPr>
            <p:cNvSpPr/>
            <p:nvPr/>
          </p:nvSpPr>
          <p:spPr>
            <a:xfrm>
              <a:off x="3476932" y="1170587"/>
              <a:ext cx="2016562" cy="266391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Source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(e.g., EHR, HIE)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</a:t>
              </a:r>
            </a:p>
          </p:txBody>
        </p:sp>
        <p:pic>
          <p:nvPicPr>
            <p:cNvPr id="5" name="Picture 11">
              <a:extLst>
                <a:ext uri="{FF2B5EF4-FFF2-40B4-BE49-F238E27FC236}">
                  <a16:creationId xmlns:a16="http://schemas.microsoft.com/office/drawing/2014/main" id="{1ECC4400-A842-BB98-02D7-0C4663274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2265" y="1170588"/>
              <a:ext cx="1017213" cy="682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C29396-F580-31B3-A650-80CBD1ADF5E6}"/>
                </a:ext>
              </a:extLst>
            </p:cNvPr>
            <p:cNvSpPr txBox="1"/>
            <p:nvPr/>
          </p:nvSpPr>
          <p:spPr>
            <a:xfrm>
              <a:off x="1726177" y="1882187"/>
              <a:ext cx="5870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Provider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50D788-5EAD-2ABF-9BEA-CA09CBA2774B}"/>
                </a:ext>
              </a:extLst>
            </p:cNvPr>
            <p:cNvSpPr/>
            <p:nvPr/>
          </p:nvSpPr>
          <p:spPr>
            <a:xfrm>
              <a:off x="7044689" y="1853645"/>
              <a:ext cx="1074827" cy="183523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Receiver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(e.g.,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Central Cancer Registry)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F0F627-0B16-D7E7-F17D-AA1B14DA61F9}"/>
                </a:ext>
              </a:extLst>
            </p:cNvPr>
            <p:cNvSpPr txBox="1"/>
            <p:nvPr/>
          </p:nvSpPr>
          <p:spPr>
            <a:xfrm>
              <a:off x="2848026" y="1005893"/>
              <a:ext cx="657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Updates / Signs Off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8777291-AA0E-D62E-2066-F614B7CFFA54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flipV="1">
              <a:off x="5493494" y="2771264"/>
              <a:ext cx="1551195" cy="5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D5D73D-B021-F2A4-59F8-02554129EC74}"/>
                </a:ext>
              </a:extLst>
            </p:cNvPr>
            <p:cNvSpPr txBox="1"/>
            <p:nvPr/>
          </p:nvSpPr>
          <p:spPr>
            <a:xfrm>
              <a:off x="6302900" y="2557000"/>
              <a:ext cx="76337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Report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A8CDC52-B8BD-528B-93A0-8875A837DFCF}"/>
                </a:ext>
              </a:extLst>
            </p:cNvPr>
            <p:cNvSpPr txBox="1"/>
            <p:nvPr/>
          </p:nvSpPr>
          <p:spPr>
            <a:xfrm>
              <a:off x="2713443" y="3960835"/>
              <a:ext cx="21105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Source Organization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67A9AA-65BF-A00D-B250-E9A1F684D976}"/>
                </a:ext>
              </a:extLst>
            </p:cNvPr>
            <p:cNvSpPr/>
            <p:nvPr/>
          </p:nvSpPr>
          <p:spPr>
            <a:xfrm>
              <a:off x="5837840" y="2635655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C4300B-A5D8-5E42-DBFA-AC4A34E24E79}"/>
                </a:ext>
              </a:extLst>
            </p:cNvPr>
            <p:cNvSpPr/>
            <p:nvPr/>
          </p:nvSpPr>
          <p:spPr>
            <a:xfrm>
              <a:off x="6792632" y="1627294"/>
              <a:ext cx="1518248" cy="242199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12F5D1-2642-F1A8-2903-2518B2BDF224}"/>
                </a:ext>
              </a:extLst>
            </p:cNvPr>
            <p:cNvSpPr txBox="1"/>
            <p:nvPr/>
          </p:nvSpPr>
          <p:spPr>
            <a:xfrm>
              <a:off x="6792632" y="3759011"/>
              <a:ext cx="16041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Receiver Organization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67E349B-3DA0-DE1B-9C71-0716CF2D19D4}"/>
                </a:ext>
              </a:extLst>
            </p:cNvPr>
            <p:cNvCxnSpPr>
              <a:cxnSpLocks/>
            </p:cNvCxnSpPr>
            <p:nvPr/>
          </p:nvCxnSpPr>
          <p:spPr>
            <a:xfrm>
              <a:off x="2723230" y="1473345"/>
              <a:ext cx="753702" cy="47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17B59A-045F-9AE1-8347-561295A77BCE}"/>
                </a:ext>
              </a:extLst>
            </p:cNvPr>
            <p:cNvSpPr txBox="1"/>
            <p:nvPr/>
          </p:nvSpPr>
          <p:spPr>
            <a:xfrm>
              <a:off x="3452465" y="3134884"/>
              <a:ext cx="968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Evaluate Data /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Create Report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534F8F3-9410-ED14-2777-847E613FA0FE}"/>
                </a:ext>
              </a:extLst>
            </p:cNvPr>
            <p:cNvSpPr/>
            <p:nvPr/>
          </p:nvSpPr>
          <p:spPr>
            <a:xfrm>
              <a:off x="2857192" y="1355193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90B5513-F5F7-8ACA-1A3C-0B869472C40E}"/>
                </a:ext>
              </a:extLst>
            </p:cNvPr>
            <p:cNvSpPr/>
            <p:nvPr/>
          </p:nvSpPr>
          <p:spPr>
            <a:xfrm>
              <a:off x="3768703" y="1971376"/>
              <a:ext cx="1432349" cy="10972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Submitter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070AE038-0757-0776-1FD4-4F22652CC771}"/>
                </a:ext>
              </a:extLst>
            </p:cNvPr>
            <p:cNvCxnSpPr>
              <a:cxnSpLocks/>
            </p:cNvCxnSpPr>
            <p:nvPr/>
          </p:nvCxnSpPr>
          <p:spPr>
            <a:xfrm>
              <a:off x="4400969" y="3068656"/>
              <a:ext cx="564267" cy="12700"/>
            </a:xfrm>
            <a:prstGeom prst="bentConnector4">
              <a:avLst>
                <a:gd name="adj1" fmla="val 670"/>
                <a:gd name="adj2" fmla="val 45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2231D43-C271-E148-B3ED-662285DE16C3}"/>
                </a:ext>
              </a:extLst>
            </p:cNvPr>
            <p:cNvSpPr/>
            <p:nvPr/>
          </p:nvSpPr>
          <p:spPr>
            <a:xfrm>
              <a:off x="4715274" y="3242814"/>
              <a:ext cx="485778" cy="2641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302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790B7-4EBD-C9E3-0332-18B16678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A414-CC4F-3D4C-D768-64FA26D63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284" y="304801"/>
            <a:ext cx="8229600" cy="533395"/>
          </a:xfrm>
        </p:spPr>
        <p:txBody>
          <a:bodyPr>
            <a:noAutofit/>
          </a:bodyPr>
          <a:lstStyle/>
          <a:p>
            <a:r>
              <a:rPr lang="en-US" sz="2000" b="1" dirty="0"/>
              <a:t>Central Cancer Registry Reporting Actors and Systems when the Data Submitter is integrated with the Data Source</a:t>
            </a: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DD211-3D6C-AFBA-4B89-DE8C78343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295401"/>
            <a:ext cx="8763000" cy="4389437"/>
          </a:xfrm>
        </p:spPr>
        <p:txBody>
          <a:bodyPr/>
          <a:lstStyle/>
          <a:p>
            <a:r>
              <a:rPr lang="en-US" sz="1800" dirty="0"/>
              <a:t>Step 1: A Provider as part of their clinical workflow updates the data in the Data Source’s patient chart.</a:t>
            </a:r>
          </a:p>
          <a:p>
            <a:r>
              <a:rPr lang="en-US" sz="1800" dirty="0"/>
              <a:t>Step 2: The Data Submitter which is part of the Data Source evaluates the data and creates the report if criteria is met.</a:t>
            </a:r>
          </a:p>
          <a:p>
            <a:r>
              <a:rPr lang="en-US" sz="1800" dirty="0"/>
              <a:t>Step 3: When a report is generated, the Data Submitter submits the created report to the Data Receiver.</a:t>
            </a:r>
          </a:p>
          <a:p>
            <a:pPr lvl="1"/>
            <a:endParaRPr lang="en-US" sz="400" dirty="0">
              <a:latin typeface="+mj-lt"/>
            </a:endParaRPr>
          </a:p>
          <a:p>
            <a:pPr lvl="1"/>
            <a:endParaRPr lang="en-US" sz="400" dirty="0">
              <a:latin typeface="+mj-lt"/>
            </a:endParaRPr>
          </a:p>
          <a:p>
            <a:pPr lvl="1"/>
            <a:endParaRPr lang="en-US" sz="400" dirty="0">
              <a:latin typeface="+mj-lt"/>
            </a:endParaRPr>
          </a:p>
          <a:p>
            <a:pPr lvl="1"/>
            <a:endParaRPr lang="en-US" sz="400" dirty="0">
              <a:latin typeface="+mj-lt"/>
            </a:endParaRPr>
          </a:p>
          <a:p>
            <a:pPr lvl="1"/>
            <a:endParaRPr lang="en-US" sz="400" dirty="0">
              <a:latin typeface="+mj-lt"/>
            </a:endParaRPr>
          </a:p>
          <a:p>
            <a:pPr lvl="1"/>
            <a:endParaRPr lang="en-US" sz="400" dirty="0">
              <a:latin typeface="+mj-lt"/>
            </a:endParaRPr>
          </a:p>
          <a:p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930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988F9CDB-BC02-480C-B88C-6C6E49E25AFB}"/>
              </a:ext>
            </a:extLst>
          </p:cNvPr>
          <p:cNvGrpSpPr/>
          <p:nvPr/>
        </p:nvGrpSpPr>
        <p:grpSpPr>
          <a:xfrm>
            <a:off x="2774880" y="1329131"/>
            <a:ext cx="7634065" cy="5248634"/>
            <a:chOff x="2774880" y="1329131"/>
            <a:chExt cx="7634065" cy="5248634"/>
          </a:xfrm>
        </p:grpSpPr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56B2135-3DE6-BDA5-EBA5-2DBEF1320B21}"/>
                </a:ext>
              </a:extLst>
            </p:cNvPr>
            <p:cNvCxnSpPr>
              <a:cxnSpLocks/>
            </p:cNvCxnSpPr>
            <p:nvPr/>
          </p:nvCxnSpPr>
          <p:spPr>
            <a:xfrm>
              <a:off x="6608013" y="4854584"/>
              <a:ext cx="0" cy="399013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B2A1E5BA-84D4-F673-E495-0B4F2CC740F9}"/>
                </a:ext>
              </a:extLst>
            </p:cNvPr>
            <p:cNvCxnSpPr>
              <a:cxnSpLocks/>
            </p:cNvCxnSpPr>
            <p:nvPr/>
          </p:nvCxnSpPr>
          <p:spPr>
            <a:xfrm>
              <a:off x="10403294" y="4854584"/>
              <a:ext cx="0" cy="399013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4FBC8E5D-843E-B8E2-40D7-31A2C3C562E2}"/>
                </a:ext>
              </a:extLst>
            </p:cNvPr>
            <p:cNvCxnSpPr>
              <a:cxnSpLocks/>
            </p:cNvCxnSpPr>
            <p:nvPr/>
          </p:nvCxnSpPr>
          <p:spPr>
            <a:xfrm>
              <a:off x="2774880" y="4854584"/>
              <a:ext cx="0" cy="399013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5712366-CBBD-774D-D29D-F76BC92077BB}"/>
                </a:ext>
              </a:extLst>
            </p:cNvPr>
            <p:cNvCxnSpPr>
              <a:cxnSpLocks/>
            </p:cNvCxnSpPr>
            <p:nvPr/>
          </p:nvCxnSpPr>
          <p:spPr>
            <a:xfrm>
              <a:off x="2797235" y="5054541"/>
              <a:ext cx="3805855" cy="3631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917B52F-8798-E5B9-F716-764497D85717}"/>
                </a:ext>
              </a:extLst>
            </p:cNvPr>
            <p:cNvSpPr txBox="1"/>
            <p:nvPr/>
          </p:nvSpPr>
          <p:spPr>
            <a:xfrm>
              <a:off x="4431061" y="5274692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13F5E05-B853-D5AF-2D34-CD7D9BDE4110}"/>
                </a:ext>
              </a:extLst>
            </p:cNvPr>
            <p:cNvSpPr txBox="1"/>
            <p:nvPr/>
          </p:nvSpPr>
          <p:spPr>
            <a:xfrm>
              <a:off x="8237688" y="5273342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2024</a:t>
              </a:r>
            </a:p>
          </p:txBody>
        </p: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921CB3F7-C7DA-741C-F63B-07912F098B61}"/>
                </a:ext>
              </a:extLst>
            </p:cNvPr>
            <p:cNvCxnSpPr>
              <a:cxnSpLocks/>
            </p:cNvCxnSpPr>
            <p:nvPr/>
          </p:nvCxnSpPr>
          <p:spPr>
            <a:xfrm>
              <a:off x="3161375" y="1790796"/>
              <a:ext cx="0" cy="3267376"/>
            </a:xfrm>
            <a:prstGeom prst="straightConnector1">
              <a:avLst/>
            </a:prstGeom>
            <a:ln w="22225">
              <a:solidFill>
                <a:schemeClr val="tx1"/>
              </a:solidFill>
              <a:prstDash val="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A3F70F-2B1B-C4CB-43C6-46C14DBC4ED3}"/>
                </a:ext>
              </a:extLst>
            </p:cNvPr>
            <p:cNvSpPr txBox="1"/>
            <p:nvPr/>
          </p:nvSpPr>
          <p:spPr>
            <a:xfrm>
              <a:off x="3031834" y="1329131"/>
              <a:ext cx="31888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3/21/2023: T0, Encounter with Primary Tumor Diagnosis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15CD73E-65B8-8FCC-B962-E7F00C46A60B}"/>
                </a:ext>
              </a:extLst>
            </p:cNvPr>
            <p:cNvGrpSpPr/>
            <p:nvPr/>
          </p:nvGrpSpPr>
          <p:grpSpPr>
            <a:xfrm>
              <a:off x="3613449" y="2424534"/>
              <a:ext cx="1727993" cy="2774657"/>
              <a:chOff x="1145389" y="2407846"/>
              <a:chExt cx="1727993" cy="2774657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C78AD225-52B5-DF70-01A4-8F08CE894D25}"/>
                  </a:ext>
                </a:extLst>
              </p:cNvPr>
              <p:cNvGrpSpPr/>
              <p:nvPr/>
            </p:nvGrpSpPr>
            <p:grpSpPr>
              <a:xfrm>
                <a:off x="1145389" y="2407846"/>
                <a:ext cx="1727993" cy="2500337"/>
                <a:chOff x="506121" y="4758934"/>
                <a:chExt cx="1727993" cy="2500337"/>
              </a:xfrm>
            </p:grpSpPr>
            <p:cxnSp>
              <p:nvCxnSpPr>
                <p:cNvPr id="42" name="Elbow Connector 41">
                  <a:extLst>
                    <a:ext uri="{FF2B5EF4-FFF2-40B4-BE49-F238E27FC236}">
                      <a16:creationId xmlns:a16="http://schemas.microsoft.com/office/drawing/2014/main" id="{0DCA9DAF-F231-D57B-9739-449E84014775}"/>
                    </a:ext>
                  </a:extLst>
                </p:cNvPr>
                <p:cNvCxnSpPr>
                  <a:cxnSpLocks/>
                  <a:stCxn id="49" idx="0"/>
                  <a:endCxn id="43" idx="1"/>
                </p:cNvCxnSpPr>
                <p:nvPr/>
              </p:nvCxnSpPr>
              <p:spPr>
                <a:xfrm rot="16200000" flipV="1">
                  <a:off x="-433470" y="6021692"/>
                  <a:ext cx="2177171" cy="297988"/>
                </a:xfrm>
                <a:prstGeom prst="bentConnector4">
                  <a:avLst>
                    <a:gd name="adj1" fmla="val 42578"/>
                    <a:gd name="adj2" fmla="val 176714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7B44F4A-2AEB-9FBB-4801-069171300176}"/>
                    </a:ext>
                  </a:extLst>
                </p:cNvPr>
                <p:cNvSpPr txBox="1"/>
                <p:nvPr/>
              </p:nvSpPr>
              <p:spPr>
                <a:xfrm>
                  <a:off x="506121" y="4758934"/>
                  <a:ext cx="172799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4472C4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4/5/2023 (T0 + 15 Days): Encounter-based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4472C4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Bundle EB.1 Sent</a:t>
                  </a:r>
                </a:p>
              </p:txBody>
            </p:sp>
          </p:grpSp>
          <p:sp>
            <p:nvSpPr>
              <p:cNvPr id="49" name="Diamond 48">
                <a:extLst>
                  <a:ext uri="{FF2B5EF4-FFF2-40B4-BE49-F238E27FC236}">
                    <a16:creationId xmlns:a16="http://schemas.microsoft.com/office/drawing/2014/main" id="{FC98C28B-EA96-7B1F-D34C-0ECFD76B3192}"/>
                  </a:ext>
                </a:extLst>
              </p:cNvPr>
              <p:cNvSpPr/>
              <p:nvPr/>
            </p:nvSpPr>
            <p:spPr>
              <a:xfrm>
                <a:off x="1306217" y="4908183"/>
                <a:ext cx="274320" cy="274320"/>
              </a:xfrm>
              <a:prstGeom prst="diamond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3846CA2-FF50-2DC8-CF67-64794AD85D8A}"/>
                </a:ext>
              </a:extLst>
            </p:cNvPr>
            <p:cNvSpPr/>
            <p:nvPr/>
          </p:nvSpPr>
          <p:spPr>
            <a:xfrm>
              <a:off x="3017301" y="4924871"/>
              <a:ext cx="274320" cy="27432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CB7AAE-DF04-C507-F462-92DBD938890C}"/>
                </a:ext>
              </a:extLst>
            </p:cNvPr>
            <p:cNvGrpSpPr/>
            <p:nvPr/>
          </p:nvGrpSpPr>
          <p:grpSpPr>
            <a:xfrm>
              <a:off x="5808876" y="2366147"/>
              <a:ext cx="1645368" cy="2833044"/>
              <a:chOff x="1908532" y="2349459"/>
              <a:chExt cx="1645368" cy="2833044"/>
            </a:xfrm>
          </p:grpSpPr>
          <p:cxnSp>
            <p:nvCxnSpPr>
              <p:cNvPr id="109" name="Elbow Connector 108">
                <a:extLst>
                  <a:ext uri="{FF2B5EF4-FFF2-40B4-BE49-F238E27FC236}">
                    <a16:creationId xmlns:a16="http://schemas.microsoft.com/office/drawing/2014/main" id="{8570CA14-96CD-B14E-BCD7-FBF4F7490AD5}"/>
                  </a:ext>
                </a:extLst>
              </p:cNvPr>
              <p:cNvCxnSpPr>
                <a:cxnSpLocks/>
                <a:stCxn id="111" idx="0"/>
                <a:endCxn id="110" idx="1"/>
              </p:cNvCxnSpPr>
              <p:nvPr/>
            </p:nvCxnSpPr>
            <p:spPr>
              <a:xfrm rot="16200000" flipV="1">
                <a:off x="962328" y="3618829"/>
                <a:ext cx="2235558" cy="343149"/>
              </a:xfrm>
              <a:prstGeom prst="bentConnector4">
                <a:avLst>
                  <a:gd name="adj1" fmla="val 42772"/>
                  <a:gd name="adj2" fmla="val 166618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E1C15BE-DB4B-51F0-50A0-6FB63A329AA3}"/>
                  </a:ext>
                </a:extLst>
              </p:cNvPr>
              <p:cNvSpPr txBox="1"/>
              <p:nvPr/>
            </p:nvSpPr>
            <p:spPr>
              <a:xfrm>
                <a:off x="1908532" y="2349459"/>
                <a:ext cx="16453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11/8/2023: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Encounter-based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Bundle EB.3 Sent</a:t>
                </a:r>
              </a:p>
            </p:txBody>
          </p:sp>
          <p:sp>
            <p:nvSpPr>
              <p:cNvPr id="111" name="Diamond 110">
                <a:extLst>
                  <a:ext uri="{FF2B5EF4-FFF2-40B4-BE49-F238E27FC236}">
                    <a16:creationId xmlns:a16="http://schemas.microsoft.com/office/drawing/2014/main" id="{85691A53-C354-CBF2-0255-C6145A2FBF2E}"/>
                  </a:ext>
                </a:extLst>
              </p:cNvPr>
              <p:cNvSpPr/>
              <p:nvPr/>
            </p:nvSpPr>
            <p:spPr>
              <a:xfrm>
                <a:off x="2114521" y="4908183"/>
                <a:ext cx="274320" cy="274320"/>
              </a:xfrm>
              <a:prstGeom prst="diamond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8371B97-7A3E-D5A1-C435-75AFB24B8E6F}"/>
                </a:ext>
              </a:extLst>
            </p:cNvPr>
            <p:cNvGrpSpPr/>
            <p:nvPr/>
          </p:nvGrpSpPr>
          <p:grpSpPr>
            <a:xfrm>
              <a:off x="3895888" y="3905119"/>
              <a:ext cx="1686441" cy="1294072"/>
              <a:chOff x="3501016" y="3883680"/>
              <a:chExt cx="1686441" cy="1294072"/>
            </a:xfrm>
          </p:grpSpPr>
          <p:sp>
            <p:nvSpPr>
              <p:cNvPr id="143" name="Diamond 142">
                <a:extLst>
                  <a:ext uri="{FF2B5EF4-FFF2-40B4-BE49-F238E27FC236}">
                    <a16:creationId xmlns:a16="http://schemas.microsoft.com/office/drawing/2014/main" id="{E6AE7607-522C-D3B9-7FE2-9F833CD3AABA}"/>
                  </a:ext>
                </a:extLst>
              </p:cNvPr>
              <p:cNvSpPr/>
              <p:nvPr/>
            </p:nvSpPr>
            <p:spPr>
              <a:xfrm>
                <a:off x="3501016" y="4903432"/>
                <a:ext cx="274320" cy="274320"/>
              </a:xfrm>
              <a:prstGeom prst="diamond">
                <a:avLst/>
              </a:prstGeom>
              <a:solidFill>
                <a:schemeClr val="accent2">
                  <a:alpha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19" name="Elbow Connector 118">
                <a:extLst>
                  <a:ext uri="{FF2B5EF4-FFF2-40B4-BE49-F238E27FC236}">
                    <a16:creationId xmlns:a16="http://schemas.microsoft.com/office/drawing/2014/main" id="{DE38697B-A0F3-3556-B828-1B1AC5CF37E6}"/>
                  </a:ext>
                </a:extLst>
              </p:cNvPr>
              <p:cNvCxnSpPr>
                <a:cxnSpLocks/>
                <a:stCxn id="143" idx="0"/>
                <a:endCxn id="120" idx="2"/>
              </p:cNvCxnSpPr>
              <p:nvPr/>
            </p:nvCxnSpPr>
            <p:spPr>
              <a:xfrm rot="5400000" flipH="1" flipV="1">
                <a:off x="3820711" y="4347477"/>
                <a:ext cx="373421" cy="73849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F823780-9358-0E55-BD62-D188B922CB86}"/>
                  </a:ext>
                </a:extLst>
              </p:cNvPr>
              <p:cNvSpPr txBox="1"/>
              <p:nvPr/>
            </p:nvSpPr>
            <p:spPr>
              <a:xfrm>
                <a:off x="3565874" y="3883680"/>
                <a:ext cx="16215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4/10/2023: Encounter-based Bundle EB.2 Sent</a:t>
                </a:r>
              </a:p>
            </p:txBody>
          </p:sp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9DB4AF3-DBD3-36F8-FA66-2A4F22DF129D}"/>
                </a:ext>
              </a:extLst>
            </p:cNvPr>
            <p:cNvSpPr txBox="1"/>
            <p:nvPr/>
          </p:nvSpPr>
          <p:spPr>
            <a:xfrm>
              <a:off x="3362136" y="2039940"/>
              <a:ext cx="23831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T0: Bundle eICR.1 Sent (Optional*)</a:t>
              </a:r>
            </a:p>
          </p:txBody>
        </p: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4E90BA67-955C-713A-5BD1-708C6502E4D1}"/>
                </a:ext>
              </a:extLst>
            </p:cNvPr>
            <p:cNvCxnSpPr>
              <a:cxnSpLocks/>
              <a:stCxn id="30" idx="0"/>
              <a:endCxn id="162" idx="1"/>
            </p:cNvCxnSpPr>
            <p:nvPr/>
          </p:nvCxnSpPr>
          <p:spPr>
            <a:xfrm rot="5400000" flipH="1" flipV="1">
              <a:off x="1885083" y="3447819"/>
              <a:ext cx="2746431" cy="207675"/>
            </a:xfrm>
            <a:prstGeom prst="bentConnector2">
              <a:avLst/>
            </a:prstGeom>
            <a:ln w="95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AF9A334-1864-6F98-51A6-8B4981BBC8A2}"/>
                </a:ext>
              </a:extLst>
            </p:cNvPr>
            <p:cNvSpPr txBox="1"/>
            <p:nvPr/>
          </p:nvSpPr>
          <p:spPr>
            <a:xfrm>
              <a:off x="3017301" y="5746768"/>
              <a:ext cx="70329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 shown: Encounters or other events that do not meet the CCRR IG triggering requirements.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The content and triggers for an eICR bundle are specified in the Electronic Case Reporting (eCR) FHIR IG.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Sending an eICR bundle is not required under the CCRR IG.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D872CB4-6DFD-F7D7-C4AE-B3286FC73C50}"/>
                </a:ext>
              </a:extLst>
            </p:cNvPr>
            <p:cNvGrpSpPr/>
            <p:nvPr/>
          </p:nvGrpSpPr>
          <p:grpSpPr>
            <a:xfrm>
              <a:off x="7546132" y="3914726"/>
              <a:ext cx="1758743" cy="1284465"/>
              <a:chOff x="3501016" y="3893287"/>
              <a:chExt cx="1758743" cy="1284465"/>
            </a:xfrm>
          </p:grpSpPr>
          <p:sp>
            <p:nvSpPr>
              <p:cNvPr id="62" name="Diamond 61">
                <a:extLst>
                  <a:ext uri="{FF2B5EF4-FFF2-40B4-BE49-F238E27FC236}">
                    <a16:creationId xmlns:a16="http://schemas.microsoft.com/office/drawing/2014/main" id="{E56D3FE9-2845-6E6B-8FC2-C82D33D96241}"/>
                  </a:ext>
                </a:extLst>
              </p:cNvPr>
              <p:cNvSpPr/>
              <p:nvPr/>
            </p:nvSpPr>
            <p:spPr>
              <a:xfrm>
                <a:off x="3501016" y="4903432"/>
                <a:ext cx="274320" cy="274320"/>
              </a:xfrm>
              <a:prstGeom prst="diamond">
                <a:avLst/>
              </a:prstGeom>
              <a:solidFill>
                <a:schemeClr val="accent2">
                  <a:alpha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63" name="Elbow Connector 62">
                <a:extLst>
                  <a:ext uri="{FF2B5EF4-FFF2-40B4-BE49-F238E27FC236}">
                    <a16:creationId xmlns:a16="http://schemas.microsoft.com/office/drawing/2014/main" id="{5132025A-983F-60FB-22A5-6B04663A0DCA}"/>
                  </a:ext>
                </a:extLst>
              </p:cNvPr>
              <p:cNvCxnSpPr>
                <a:cxnSpLocks/>
                <a:stCxn id="62" idx="0"/>
                <a:endCxn id="65" idx="2"/>
              </p:cNvCxnSpPr>
              <p:nvPr/>
            </p:nvCxnSpPr>
            <p:spPr>
              <a:xfrm rot="5400000" flipH="1" flipV="1">
                <a:off x="3861665" y="4316129"/>
                <a:ext cx="363814" cy="810792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A36C5DD-2508-4CE6-4B96-15B47E99C982}"/>
                  </a:ext>
                </a:extLst>
              </p:cNvPr>
              <p:cNvSpPr txBox="1"/>
              <p:nvPr/>
            </p:nvSpPr>
            <p:spPr>
              <a:xfrm>
                <a:off x="3638176" y="3893287"/>
                <a:ext cx="16215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3/31/2024: Non-Encounter-based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Bundle NEB.1 Sent</a:t>
                </a:r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EE0ACD5-F62F-B67B-691D-8FC9C6C220C6}"/>
                </a:ext>
              </a:extLst>
            </p:cNvPr>
            <p:cNvCxnSpPr>
              <a:cxnSpLocks/>
            </p:cNvCxnSpPr>
            <p:nvPr/>
          </p:nvCxnSpPr>
          <p:spPr>
            <a:xfrm>
              <a:off x="6603090" y="5059826"/>
              <a:ext cx="3805855" cy="3631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ECABF16A-0968-C51F-2F1A-33698F3EBBCB}"/>
              </a:ext>
            </a:extLst>
          </p:cNvPr>
          <p:cNvSpPr txBox="1"/>
          <p:nvPr/>
        </p:nvSpPr>
        <p:spPr>
          <a:xfrm>
            <a:off x="3618563" y="640535"/>
            <a:ext cx="4954872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CCRR IG Patient Journey – FHIR Bundle Sends</a:t>
            </a:r>
            <a:endParaRPr kumimoji="0" lang="en-US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785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C55E-BD66-72A7-53FD-40C6DA33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dirty="0"/>
              <a:t>OLD SLIDES</a:t>
            </a:r>
          </a:p>
        </p:txBody>
      </p:sp>
    </p:spTree>
    <p:extLst>
      <p:ext uri="{BB962C8B-B14F-4D97-AF65-F5344CB8AC3E}">
        <p14:creationId xmlns:p14="http://schemas.microsoft.com/office/powerpoint/2010/main" val="256362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8576F1-7148-6A75-32D5-EF1DF65B1316}"/>
              </a:ext>
            </a:extLst>
          </p:cNvPr>
          <p:cNvSpPr/>
          <p:nvPr/>
        </p:nvSpPr>
        <p:spPr>
          <a:xfrm>
            <a:off x="1494624" y="871803"/>
            <a:ext cx="4067606" cy="458740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B5F1A-67B6-7934-8218-40099A45AD7E}"/>
              </a:ext>
            </a:extLst>
          </p:cNvPr>
          <p:cNvSpPr/>
          <p:nvPr/>
        </p:nvSpPr>
        <p:spPr>
          <a:xfrm>
            <a:off x="3572182" y="943268"/>
            <a:ext cx="1811459" cy="1069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Source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(e.g., Healthcare Facility, HIE)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B11287FC-09C5-FAD6-65E0-A6EB39F17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267" y="1131951"/>
            <a:ext cx="1017213" cy="6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66B9FC-188E-5A29-FEF2-ECB692473E3E}"/>
              </a:ext>
            </a:extLst>
          </p:cNvPr>
          <p:cNvSpPr/>
          <p:nvPr/>
        </p:nvSpPr>
        <p:spPr>
          <a:xfrm>
            <a:off x="3605304" y="3756547"/>
            <a:ext cx="1811459" cy="14644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Submitter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61A66-2E37-2475-0D46-969AC968A59D}"/>
              </a:ext>
            </a:extLst>
          </p:cNvPr>
          <p:cNvSpPr txBox="1"/>
          <p:nvPr/>
        </p:nvSpPr>
        <p:spPr>
          <a:xfrm>
            <a:off x="1918466" y="1829284"/>
            <a:ext cx="5870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Provider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A93BCE-C37E-BA58-0AB8-6C78CEE07245}"/>
              </a:ext>
            </a:extLst>
          </p:cNvPr>
          <p:cNvSpPr/>
          <p:nvPr/>
        </p:nvSpPr>
        <p:spPr>
          <a:xfrm>
            <a:off x="7216081" y="1987728"/>
            <a:ext cx="1282018" cy="26766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Receiver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(e.g.,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RESP-NET Site)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674A4F-DD4D-2B53-4F91-94F9283E27FA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818480" y="1473345"/>
            <a:ext cx="753702" cy="4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CC27550-3E1F-1A2B-B06B-704417C6B2CD}"/>
              </a:ext>
            </a:extLst>
          </p:cNvPr>
          <p:cNvSpPr txBox="1"/>
          <p:nvPr/>
        </p:nvSpPr>
        <p:spPr>
          <a:xfrm>
            <a:off x="2911794" y="997762"/>
            <a:ext cx="657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Updates/Sign off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D1495D-0081-F40F-55C2-E2B4B9A3782A}"/>
              </a:ext>
            </a:extLst>
          </p:cNvPr>
          <p:cNvCxnSpPr>
            <a:cxnSpLocks/>
          </p:cNvCxnSpPr>
          <p:nvPr/>
        </p:nvCxnSpPr>
        <p:spPr>
          <a:xfrm>
            <a:off x="4066853" y="2021915"/>
            <a:ext cx="0" cy="1727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C7A75B-74E0-6005-043C-B87ACA695146}"/>
              </a:ext>
            </a:extLst>
          </p:cNvPr>
          <p:cNvCxnSpPr>
            <a:cxnSpLocks/>
          </p:cNvCxnSpPr>
          <p:nvPr/>
        </p:nvCxnSpPr>
        <p:spPr>
          <a:xfrm flipH="1" flipV="1">
            <a:off x="4411872" y="2012932"/>
            <a:ext cx="9284" cy="1751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F63327-A24C-90FD-6863-FF8E67A8464F}"/>
              </a:ext>
            </a:extLst>
          </p:cNvPr>
          <p:cNvCxnSpPr>
            <a:cxnSpLocks/>
          </p:cNvCxnSpPr>
          <p:nvPr/>
        </p:nvCxnSpPr>
        <p:spPr>
          <a:xfrm>
            <a:off x="5415459" y="4458463"/>
            <a:ext cx="1800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BADAD3-A5B0-C13D-DC8F-92B73B6D60C3}"/>
              </a:ext>
            </a:extLst>
          </p:cNvPr>
          <p:cNvSpPr txBox="1"/>
          <p:nvPr/>
        </p:nvSpPr>
        <p:spPr>
          <a:xfrm>
            <a:off x="6244482" y="4245908"/>
            <a:ext cx="7633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9C4513-9AAD-C132-A98F-A0CC1E0B71CD}"/>
              </a:ext>
            </a:extLst>
          </p:cNvPr>
          <p:cNvSpPr txBox="1"/>
          <p:nvPr/>
        </p:nvSpPr>
        <p:spPr>
          <a:xfrm>
            <a:off x="2042689" y="5228377"/>
            <a:ext cx="21105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Source Organization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AB5861-DB3F-E8AD-6DA7-EDB91FA063D9}"/>
              </a:ext>
            </a:extLst>
          </p:cNvPr>
          <p:cNvCxnSpPr>
            <a:cxnSpLocks/>
          </p:cNvCxnSpPr>
          <p:nvPr/>
        </p:nvCxnSpPr>
        <p:spPr>
          <a:xfrm flipV="1">
            <a:off x="3676476" y="2012932"/>
            <a:ext cx="0" cy="1699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B014656-3F10-9A4C-9C3D-AB2C3E41218A}"/>
              </a:ext>
            </a:extLst>
          </p:cNvPr>
          <p:cNvSpPr txBox="1"/>
          <p:nvPr/>
        </p:nvSpPr>
        <p:spPr>
          <a:xfrm rot="5400000">
            <a:off x="3762717" y="2882978"/>
            <a:ext cx="7809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Notification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3D75A0-8F8C-EEC7-7AF8-B88D8EE2EA89}"/>
              </a:ext>
            </a:extLst>
          </p:cNvPr>
          <p:cNvSpPr txBox="1"/>
          <p:nvPr/>
        </p:nvSpPr>
        <p:spPr>
          <a:xfrm rot="5400000">
            <a:off x="3160185" y="2635423"/>
            <a:ext cx="1188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Notification Creation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4D3964-E2FF-9301-2939-898594046131}"/>
              </a:ext>
            </a:extLst>
          </p:cNvPr>
          <p:cNvCxnSpPr>
            <a:cxnSpLocks/>
          </p:cNvCxnSpPr>
          <p:nvPr/>
        </p:nvCxnSpPr>
        <p:spPr>
          <a:xfrm flipV="1">
            <a:off x="4844411" y="2021915"/>
            <a:ext cx="0" cy="172701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FB15255-FCA0-5F18-8712-E1302720069F}"/>
              </a:ext>
            </a:extLst>
          </p:cNvPr>
          <p:cNvSpPr txBox="1"/>
          <p:nvPr/>
        </p:nvSpPr>
        <p:spPr>
          <a:xfrm rot="5400000">
            <a:off x="4289051" y="2878363"/>
            <a:ext cx="1279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Queries Response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255AA1-0EB2-B1FB-7D72-BC2BE5446A21}"/>
              </a:ext>
            </a:extLst>
          </p:cNvPr>
          <p:cNvSpPr/>
          <p:nvPr/>
        </p:nvSpPr>
        <p:spPr>
          <a:xfrm>
            <a:off x="5752975" y="4305226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E2390E7-C6B5-407A-3EAB-ECBDF86683BE}"/>
              </a:ext>
            </a:extLst>
          </p:cNvPr>
          <p:cNvSpPr/>
          <p:nvPr/>
        </p:nvSpPr>
        <p:spPr>
          <a:xfrm>
            <a:off x="4601820" y="2119360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2E610-59B3-3088-B4F2-82F915C0CA6F}"/>
              </a:ext>
            </a:extLst>
          </p:cNvPr>
          <p:cNvSpPr/>
          <p:nvPr/>
        </p:nvSpPr>
        <p:spPr>
          <a:xfrm>
            <a:off x="4209147" y="3274168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62B0CC-8C11-BD2D-FBD3-CC3704F34D7E}"/>
              </a:ext>
            </a:extLst>
          </p:cNvPr>
          <p:cNvSpPr/>
          <p:nvPr/>
        </p:nvSpPr>
        <p:spPr>
          <a:xfrm>
            <a:off x="3820097" y="2089271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6F0833-C791-1110-0AD6-2CC0F3CF064F}"/>
              </a:ext>
            </a:extLst>
          </p:cNvPr>
          <p:cNvSpPr/>
          <p:nvPr/>
        </p:nvSpPr>
        <p:spPr>
          <a:xfrm>
            <a:off x="3460989" y="3283837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DC089C-DD3B-4C02-0C9B-7964072FBBFA}"/>
              </a:ext>
            </a:extLst>
          </p:cNvPr>
          <p:cNvSpPr/>
          <p:nvPr/>
        </p:nvSpPr>
        <p:spPr>
          <a:xfrm>
            <a:off x="2920700" y="1337161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3791B3-9C0D-A9EB-0A3A-C4F8B73E75B9}"/>
              </a:ext>
            </a:extLst>
          </p:cNvPr>
          <p:cNvSpPr txBox="1"/>
          <p:nvPr/>
        </p:nvSpPr>
        <p:spPr>
          <a:xfrm rot="5400000">
            <a:off x="4098770" y="2820074"/>
            <a:ext cx="8354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Queries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343517-5DC1-5E27-D6A0-44F96F21BCE3}"/>
              </a:ext>
            </a:extLst>
          </p:cNvPr>
          <p:cNvSpPr/>
          <p:nvPr/>
        </p:nvSpPr>
        <p:spPr>
          <a:xfrm>
            <a:off x="6964024" y="1761377"/>
            <a:ext cx="1810916" cy="32427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0B6375-D98D-6E19-309B-CD790AE8671B}"/>
              </a:ext>
            </a:extLst>
          </p:cNvPr>
          <p:cNvSpPr txBox="1"/>
          <p:nvPr/>
        </p:nvSpPr>
        <p:spPr>
          <a:xfrm>
            <a:off x="7132299" y="4762884"/>
            <a:ext cx="1596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Receiver Organization</a:t>
            </a:r>
          </a:p>
        </p:txBody>
      </p:sp>
      <p:sp>
        <p:nvSpPr>
          <p:cNvPr id="31" name="Curved Left Arrow 3">
            <a:extLst>
              <a:ext uri="{FF2B5EF4-FFF2-40B4-BE49-F238E27FC236}">
                <a16:creationId xmlns:a16="http://schemas.microsoft.com/office/drawing/2014/main" id="{81FF7CFF-03F7-31B8-A2C2-21F533B53C10}"/>
              </a:ext>
            </a:extLst>
          </p:cNvPr>
          <p:cNvSpPr/>
          <p:nvPr/>
        </p:nvSpPr>
        <p:spPr>
          <a:xfrm>
            <a:off x="4206006" y="4316274"/>
            <a:ext cx="412521" cy="458124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9BD0C91-D05B-D4F1-805E-9176FEE9EB1C}"/>
              </a:ext>
            </a:extLst>
          </p:cNvPr>
          <p:cNvSpPr/>
          <p:nvPr/>
        </p:nvSpPr>
        <p:spPr>
          <a:xfrm>
            <a:off x="4583867" y="4554191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FF164C-E7FA-550D-64A3-AFA83BF997E2}"/>
              </a:ext>
            </a:extLst>
          </p:cNvPr>
          <p:cNvSpPr txBox="1"/>
          <p:nvPr/>
        </p:nvSpPr>
        <p:spPr>
          <a:xfrm>
            <a:off x="3789710" y="4381859"/>
            <a:ext cx="76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Evaluate/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Create</a:t>
            </a:r>
          </a:p>
        </p:txBody>
      </p:sp>
    </p:spTree>
    <p:extLst>
      <p:ext uri="{BB962C8B-B14F-4D97-AF65-F5344CB8AC3E}">
        <p14:creationId xmlns:p14="http://schemas.microsoft.com/office/powerpoint/2010/main" val="83510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FDDDDD-33A7-2BEC-FD95-76046287FE67}"/>
              </a:ext>
            </a:extLst>
          </p:cNvPr>
          <p:cNvSpPr/>
          <p:nvPr/>
        </p:nvSpPr>
        <p:spPr>
          <a:xfrm rot="16200000">
            <a:off x="289558" y="429770"/>
            <a:ext cx="1115571" cy="512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F1615-3421-A0BF-B67F-0312C101F950}"/>
              </a:ext>
            </a:extLst>
          </p:cNvPr>
          <p:cNvSpPr/>
          <p:nvPr/>
        </p:nvSpPr>
        <p:spPr>
          <a:xfrm rot="16200000">
            <a:off x="-719725" y="2537743"/>
            <a:ext cx="3134128" cy="512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Data Submitter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66E77-C8C7-0601-1BCB-2DCD72509E64}"/>
              </a:ext>
            </a:extLst>
          </p:cNvPr>
          <p:cNvSpPr/>
          <p:nvPr/>
        </p:nvSpPr>
        <p:spPr>
          <a:xfrm rot="16200000">
            <a:off x="54611" y="4902002"/>
            <a:ext cx="1585455" cy="512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Receiver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12D-68CD-4960-9599-0A1904E64B0A}"/>
              </a:ext>
            </a:extLst>
          </p:cNvPr>
          <p:cNvSpPr/>
          <p:nvPr/>
        </p:nvSpPr>
        <p:spPr>
          <a:xfrm rot="16200000">
            <a:off x="457731" y="6084341"/>
            <a:ext cx="779221" cy="512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E3C14-5175-DFE3-F77B-F7C280EC03BC}"/>
              </a:ext>
            </a:extLst>
          </p:cNvPr>
          <p:cNvSpPr/>
          <p:nvPr/>
        </p:nvSpPr>
        <p:spPr>
          <a:xfrm>
            <a:off x="1103370" y="128014"/>
            <a:ext cx="10674101" cy="11094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53237A-96BF-0008-1A5B-5E09025B63B7}"/>
              </a:ext>
            </a:extLst>
          </p:cNvPr>
          <p:cNvSpPr/>
          <p:nvPr/>
        </p:nvSpPr>
        <p:spPr>
          <a:xfrm>
            <a:off x="1103370" y="1226711"/>
            <a:ext cx="10674101" cy="31385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8815F7-8A9C-7C9F-32AC-F693AE471088}"/>
              </a:ext>
            </a:extLst>
          </p:cNvPr>
          <p:cNvSpPr/>
          <p:nvPr/>
        </p:nvSpPr>
        <p:spPr>
          <a:xfrm>
            <a:off x="1109472" y="4360839"/>
            <a:ext cx="10667999" cy="15854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C5BE9B-F231-4674-AF44-8E2C5E711840}"/>
              </a:ext>
            </a:extLst>
          </p:cNvPr>
          <p:cNvSpPr/>
          <p:nvPr/>
        </p:nvSpPr>
        <p:spPr>
          <a:xfrm>
            <a:off x="1260819" y="414528"/>
            <a:ext cx="377952" cy="37795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DF5679-B469-67DB-68C0-0EA619F26557}"/>
              </a:ext>
            </a:extLst>
          </p:cNvPr>
          <p:cNvSpPr/>
          <p:nvPr/>
        </p:nvSpPr>
        <p:spPr>
          <a:xfrm>
            <a:off x="2150829" y="262128"/>
            <a:ext cx="1792229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Notify of Encounter End Event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FEBAB1B-0744-3D0D-F424-F0E0C9CEE767}"/>
              </a:ext>
            </a:extLst>
          </p:cNvPr>
          <p:cNvSpPr/>
          <p:nvPr/>
        </p:nvSpPr>
        <p:spPr>
          <a:xfrm>
            <a:off x="4796943" y="262128"/>
            <a:ext cx="1792229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 Request for Cancer Data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FACC5B-8BBA-88F5-3270-E441A93B9AD5}"/>
              </a:ext>
            </a:extLst>
          </p:cNvPr>
          <p:cNvSpPr/>
          <p:nvPr/>
        </p:nvSpPr>
        <p:spPr>
          <a:xfrm>
            <a:off x="2147411" y="2042161"/>
            <a:ext cx="1804427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 Notification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CD4A508-7C2F-E80C-C8F7-4936178B7D00}"/>
              </a:ext>
            </a:extLst>
          </p:cNvPr>
          <p:cNvSpPr/>
          <p:nvPr/>
        </p:nvSpPr>
        <p:spPr>
          <a:xfrm>
            <a:off x="4796943" y="1517904"/>
            <a:ext cx="1792229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Retrieve Cancer Data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8AF708B-8DB8-EBB5-B392-5D5AC90EEE2C}"/>
              </a:ext>
            </a:extLst>
          </p:cNvPr>
          <p:cNvSpPr/>
          <p:nvPr/>
        </p:nvSpPr>
        <p:spPr>
          <a:xfrm>
            <a:off x="7500571" y="3080587"/>
            <a:ext cx="1792229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Cancer Report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081CC77-0B36-9B07-3F19-59DEA5F9520B}"/>
              </a:ext>
            </a:extLst>
          </p:cNvPr>
          <p:cNvSpPr/>
          <p:nvPr/>
        </p:nvSpPr>
        <p:spPr>
          <a:xfrm>
            <a:off x="9773973" y="3080587"/>
            <a:ext cx="1792229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Submit Cancer Report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C54FB4-488F-7127-F7F2-BC52D2E91BDB}"/>
              </a:ext>
            </a:extLst>
          </p:cNvPr>
          <p:cNvSpPr/>
          <p:nvPr/>
        </p:nvSpPr>
        <p:spPr>
          <a:xfrm>
            <a:off x="9765194" y="4972922"/>
            <a:ext cx="1792229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 Cancer Report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11FFAD-65CA-98A2-BF91-18C3F6D8E67A}"/>
              </a:ext>
            </a:extLst>
          </p:cNvPr>
          <p:cNvSpPr/>
          <p:nvPr/>
        </p:nvSpPr>
        <p:spPr>
          <a:xfrm>
            <a:off x="7284123" y="4972922"/>
            <a:ext cx="1792229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Cancer Report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1FE242A-4983-E559-5974-24D2B5E9BB33}"/>
              </a:ext>
            </a:extLst>
          </p:cNvPr>
          <p:cNvSpPr/>
          <p:nvPr/>
        </p:nvSpPr>
        <p:spPr>
          <a:xfrm>
            <a:off x="4815245" y="4972922"/>
            <a:ext cx="1792229" cy="6827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 Cancer Report</a:t>
            </a:r>
          </a:p>
        </p:txBody>
      </p:sp>
      <p:sp>
        <p:nvSpPr>
          <p:cNvPr id="25" name="Donut 24">
            <a:extLst>
              <a:ext uri="{FF2B5EF4-FFF2-40B4-BE49-F238E27FC236}">
                <a16:creationId xmlns:a16="http://schemas.microsoft.com/office/drawing/2014/main" id="{E279B555-0872-30A0-CE0B-BF7FF46A65B2}"/>
              </a:ext>
            </a:extLst>
          </p:cNvPr>
          <p:cNvSpPr/>
          <p:nvPr/>
        </p:nvSpPr>
        <p:spPr>
          <a:xfrm>
            <a:off x="2861009" y="4997306"/>
            <a:ext cx="708668" cy="633984"/>
          </a:xfrm>
          <a:prstGeom prst="don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7D6106-7419-EF03-B8E1-41542D46DC94}"/>
              </a:ext>
            </a:extLst>
          </p:cNvPr>
          <p:cNvSpPr/>
          <p:nvPr/>
        </p:nvSpPr>
        <p:spPr>
          <a:xfrm>
            <a:off x="1103370" y="5950764"/>
            <a:ext cx="10667999" cy="77921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B921289-72A2-AC58-ADDA-F400C1000BE1}"/>
              </a:ext>
            </a:extLst>
          </p:cNvPr>
          <p:cNvSpPr/>
          <p:nvPr/>
        </p:nvSpPr>
        <p:spPr>
          <a:xfrm>
            <a:off x="1463040" y="6066380"/>
            <a:ext cx="377952" cy="37795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8E2096-FE62-CA3C-E1D2-F526AD823D23}"/>
              </a:ext>
            </a:extLst>
          </p:cNvPr>
          <p:cNvSpPr txBox="1"/>
          <p:nvPr/>
        </p:nvSpPr>
        <p:spPr>
          <a:xfrm>
            <a:off x="1164542" y="6448800"/>
            <a:ext cx="9749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Workflow</a:t>
            </a:r>
          </a:p>
        </p:txBody>
      </p:sp>
      <p:sp>
        <p:nvSpPr>
          <p:cNvPr id="29" name="Donut 28">
            <a:extLst>
              <a:ext uri="{FF2B5EF4-FFF2-40B4-BE49-F238E27FC236}">
                <a16:creationId xmlns:a16="http://schemas.microsoft.com/office/drawing/2014/main" id="{3786F60B-041C-D56F-2985-10338F0A1134}"/>
              </a:ext>
            </a:extLst>
          </p:cNvPr>
          <p:cNvSpPr/>
          <p:nvPr/>
        </p:nvSpPr>
        <p:spPr>
          <a:xfrm>
            <a:off x="2473007" y="6066380"/>
            <a:ext cx="512066" cy="377952"/>
          </a:xfrm>
          <a:prstGeom prst="don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F4C9CD-C5C3-74C6-12F3-72A1F8574C24}"/>
              </a:ext>
            </a:extLst>
          </p:cNvPr>
          <p:cNvSpPr txBox="1"/>
          <p:nvPr/>
        </p:nvSpPr>
        <p:spPr>
          <a:xfrm>
            <a:off x="2270993" y="6448800"/>
            <a:ext cx="9204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 Workflow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0739E31-99ED-9CE1-BC21-DD3F7D6602A9}"/>
              </a:ext>
            </a:extLst>
          </p:cNvPr>
          <p:cNvCxnSpPr>
            <a:stCxn id="12" idx="6"/>
            <a:endCxn id="14" idx="1"/>
          </p:cNvCxnSpPr>
          <p:nvPr/>
        </p:nvCxnSpPr>
        <p:spPr>
          <a:xfrm>
            <a:off x="1638771" y="603504"/>
            <a:ext cx="51205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2B60A0-94F2-2B7A-C5DC-1D11B159F7E8}"/>
              </a:ext>
            </a:extLst>
          </p:cNvPr>
          <p:cNvCxnSpPr>
            <a:cxnSpLocks/>
          </p:cNvCxnSpPr>
          <p:nvPr/>
        </p:nvCxnSpPr>
        <p:spPr>
          <a:xfrm>
            <a:off x="3633221" y="6255356"/>
            <a:ext cx="51205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F8CC8CF-13AB-8B21-26BF-C673B0CA5AD1}"/>
              </a:ext>
            </a:extLst>
          </p:cNvPr>
          <p:cNvSpPr txBox="1"/>
          <p:nvPr/>
        </p:nvSpPr>
        <p:spPr>
          <a:xfrm>
            <a:off x="3514274" y="6448801"/>
            <a:ext cx="726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Workflow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E45372-AD44-213C-9CA2-52EB02166093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3046944" y="944880"/>
            <a:ext cx="2681" cy="1097281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0192228-7A8E-5640-F343-D4F757959D58}"/>
              </a:ext>
            </a:extLst>
          </p:cNvPr>
          <p:cNvSpPr/>
          <p:nvPr/>
        </p:nvSpPr>
        <p:spPr>
          <a:xfrm>
            <a:off x="4801908" y="6081796"/>
            <a:ext cx="1536774" cy="347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185102-C9FC-713C-5CB8-5D6D429B94F5}"/>
              </a:ext>
            </a:extLst>
          </p:cNvPr>
          <p:cNvSpPr txBox="1"/>
          <p:nvPr/>
        </p:nvSpPr>
        <p:spPr>
          <a:xfrm>
            <a:off x="5280283" y="6448800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Task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F99F110D-4864-345A-90CF-31D8FC881BCC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3951838" y="603504"/>
            <a:ext cx="845105" cy="178003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910B5C-13F7-8056-C067-35FB517C50DC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5693058" y="944880"/>
            <a:ext cx="0" cy="573024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CEF2D0D-FC50-01BD-F0F1-ED3E2CE8D6C6}"/>
              </a:ext>
            </a:extLst>
          </p:cNvPr>
          <p:cNvCxnSpPr>
            <a:cxnSpLocks/>
          </p:cNvCxnSpPr>
          <p:nvPr/>
        </p:nvCxnSpPr>
        <p:spPr>
          <a:xfrm>
            <a:off x="5686143" y="2200656"/>
            <a:ext cx="0" cy="4145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3A65EDFE-A946-F9DE-DD4E-4F75F2A1007D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>
            <a:off x="6719339" y="3421835"/>
            <a:ext cx="781232" cy="12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6A61F6B-E4CA-30AE-21F4-8BEBCD752308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9292800" y="3421963"/>
            <a:ext cx="48117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842491B-AD98-C4A2-1CF9-F1963D4CDED7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10661309" y="3763339"/>
            <a:ext cx="8779" cy="1209583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D99F5EF-B169-BFD9-9402-E3970C8FC8DD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9076352" y="5310505"/>
            <a:ext cx="676649" cy="37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22D8ACB-40FA-C244-7877-B142A3C65E89}"/>
              </a:ext>
            </a:extLst>
          </p:cNvPr>
          <p:cNvCxnSpPr>
            <a:cxnSpLocks/>
            <a:stCxn id="22" idx="1"/>
            <a:endCxn id="24" idx="3"/>
          </p:cNvCxnSpPr>
          <p:nvPr/>
        </p:nvCxnSpPr>
        <p:spPr>
          <a:xfrm flipH="1">
            <a:off x="6607474" y="5314298"/>
            <a:ext cx="6766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30279B7-3C17-7743-F911-D250DB5E2981}"/>
              </a:ext>
            </a:extLst>
          </p:cNvPr>
          <p:cNvCxnSpPr>
            <a:cxnSpLocks/>
            <a:stCxn id="24" idx="1"/>
            <a:endCxn id="25" idx="6"/>
          </p:cNvCxnSpPr>
          <p:nvPr/>
        </p:nvCxnSpPr>
        <p:spPr>
          <a:xfrm flipH="1">
            <a:off x="3569677" y="5314298"/>
            <a:ext cx="124556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6F97958-B321-554B-CF80-5550F59A9307}"/>
              </a:ext>
            </a:extLst>
          </p:cNvPr>
          <p:cNvSpPr txBox="1"/>
          <p:nvPr/>
        </p:nvSpPr>
        <p:spPr>
          <a:xfrm>
            <a:off x="3055723" y="15543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F27895-43C7-4FA8-4770-71AEB75499C0}"/>
              </a:ext>
            </a:extLst>
          </p:cNvPr>
          <p:cNvSpPr txBox="1"/>
          <p:nvPr/>
        </p:nvSpPr>
        <p:spPr>
          <a:xfrm>
            <a:off x="1712389" y="2750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9E1C907-C4DD-4C48-6555-271970C954B9}"/>
              </a:ext>
            </a:extLst>
          </p:cNvPr>
          <p:cNvSpPr txBox="1"/>
          <p:nvPr/>
        </p:nvSpPr>
        <p:spPr>
          <a:xfrm>
            <a:off x="4114382" y="1385921"/>
            <a:ext cx="246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35526B-71B8-34D7-729B-12B1B80D119F}"/>
              </a:ext>
            </a:extLst>
          </p:cNvPr>
          <p:cNvSpPr txBox="1"/>
          <p:nvPr/>
        </p:nvSpPr>
        <p:spPr>
          <a:xfrm>
            <a:off x="5710598" y="11650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7BFA215-1E59-7D54-10B2-68B941583ED7}"/>
              </a:ext>
            </a:extLst>
          </p:cNvPr>
          <p:cNvSpPr txBox="1"/>
          <p:nvPr/>
        </p:nvSpPr>
        <p:spPr>
          <a:xfrm>
            <a:off x="5710598" y="21988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356D19A-E4D5-C3FF-7734-B09EAB42262C}"/>
              </a:ext>
            </a:extLst>
          </p:cNvPr>
          <p:cNvSpPr txBox="1"/>
          <p:nvPr/>
        </p:nvSpPr>
        <p:spPr>
          <a:xfrm>
            <a:off x="6832250" y="2933221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9CD3B82-71E8-C977-39E4-2174D4BD02DC}"/>
              </a:ext>
            </a:extLst>
          </p:cNvPr>
          <p:cNvSpPr txBox="1"/>
          <p:nvPr/>
        </p:nvSpPr>
        <p:spPr>
          <a:xfrm>
            <a:off x="9373762" y="2973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16F85DE-D72A-0BF9-CD8F-402DE1EC2DB2}"/>
              </a:ext>
            </a:extLst>
          </p:cNvPr>
          <p:cNvSpPr txBox="1"/>
          <p:nvPr/>
        </p:nvSpPr>
        <p:spPr>
          <a:xfrm>
            <a:off x="10771250" y="44966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ECD54B-6831-94AD-8072-5C6EE86370FD}"/>
              </a:ext>
            </a:extLst>
          </p:cNvPr>
          <p:cNvSpPr txBox="1"/>
          <p:nvPr/>
        </p:nvSpPr>
        <p:spPr>
          <a:xfrm>
            <a:off x="9280641" y="4872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69F3068-0E52-5032-EE14-100A1F936D53}"/>
              </a:ext>
            </a:extLst>
          </p:cNvPr>
          <p:cNvSpPr txBox="1"/>
          <p:nvPr/>
        </p:nvSpPr>
        <p:spPr>
          <a:xfrm>
            <a:off x="6783146" y="485326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7F23D62-621D-B46F-B1AC-962DC8FC09C5}"/>
              </a:ext>
            </a:extLst>
          </p:cNvPr>
          <p:cNvSpPr txBox="1"/>
          <p:nvPr/>
        </p:nvSpPr>
        <p:spPr>
          <a:xfrm>
            <a:off x="3974322" y="49093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1CDADEF5-1E74-AD6F-E5B1-6EADCBF14B8D}"/>
              </a:ext>
            </a:extLst>
          </p:cNvPr>
          <p:cNvSpPr/>
          <p:nvPr/>
        </p:nvSpPr>
        <p:spPr>
          <a:xfrm>
            <a:off x="4666776" y="2591367"/>
            <a:ext cx="2052563" cy="1660935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based 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 Artifact for Reportability and Timing</a:t>
            </a:r>
          </a:p>
        </p:txBody>
      </p:sp>
      <p:cxnSp>
        <p:nvCxnSpPr>
          <p:cNvPr id="11" name="Elbow Connector 43">
            <a:extLst>
              <a:ext uri="{FF2B5EF4-FFF2-40B4-BE49-F238E27FC236}">
                <a16:creationId xmlns:a16="http://schemas.microsoft.com/office/drawing/2014/main" id="{67B2159F-5271-DB7E-04C0-2B721A49369C}"/>
              </a:ext>
            </a:extLst>
          </p:cNvPr>
          <p:cNvCxnSpPr>
            <a:cxnSpLocks/>
            <a:stCxn id="3" idx="1"/>
            <a:endCxn id="25" idx="0"/>
          </p:cNvCxnSpPr>
          <p:nvPr/>
        </p:nvCxnSpPr>
        <p:spPr>
          <a:xfrm rot="10800000" flipV="1">
            <a:off x="3215344" y="3421834"/>
            <a:ext cx="1451433" cy="1575471"/>
          </a:xfrm>
          <a:prstGeom prst="bentConnector2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EF0F6E5-E83D-2C41-4CFC-DD0D9F189AFB}"/>
              </a:ext>
            </a:extLst>
          </p:cNvPr>
          <p:cNvSpPr txBox="1"/>
          <p:nvPr/>
        </p:nvSpPr>
        <p:spPr>
          <a:xfrm>
            <a:off x="3224121" y="3207163"/>
            <a:ext cx="1550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Not Meet Criteria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4F2122-B062-98A5-4015-B1F4BB6030D8}"/>
              </a:ext>
            </a:extLst>
          </p:cNvPr>
          <p:cNvSpPr txBox="1"/>
          <p:nvPr/>
        </p:nvSpPr>
        <p:spPr>
          <a:xfrm>
            <a:off x="6623225" y="3183271"/>
            <a:ext cx="936219" cy="24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Meets Criteria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ECAA97-4C41-82AA-F939-EA43836B127F}"/>
              </a:ext>
            </a:extLst>
          </p:cNvPr>
          <p:cNvSpPr txBox="1"/>
          <p:nvPr/>
        </p:nvSpPr>
        <p:spPr>
          <a:xfrm>
            <a:off x="3690869" y="297137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6b</a:t>
            </a:r>
          </a:p>
        </p:txBody>
      </p:sp>
    </p:spTree>
    <p:extLst>
      <p:ext uri="{BB962C8B-B14F-4D97-AF65-F5344CB8AC3E}">
        <p14:creationId xmlns:p14="http://schemas.microsoft.com/office/powerpoint/2010/main" val="3550430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70A2071-BEB2-A0DC-123C-233F02E523C8}"/>
              </a:ext>
            </a:extLst>
          </p:cNvPr>
          <p:cNvSpPr/>
          <p:nvPr/>
        </p:nvSpPr>
        <p:spPr>
          <a:xfrm>
            <a:off x="1494624" y="899406"/>
            <a:ext cx="4067606" cy="47231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5DE9D72-EC99-6647-B73A-F5375063F5F8}"/>
              </a:ext>
            </a:extLst>
          </p:cNvPr>
          <p:cNvCxnSpPr>
            <a:cxnSpLocks/>
          </p:cNvCxnSpPr>
          <p:nvPr/>
        </p:nvCxnSpPr>
        <p:spPr>
          <a:xfrm>
            <a:off x="5412394" y="4436043"/>
            <a:ext cx="156736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5EB3F32-3591-7A41-A2F9-324E31B80C29}"/>
              </a:ext>
            </a:extLst>
          </p:cNvPr>
          <p:cNvSpPr/>
          <p:nvPr/>
        </p:nvSpPr>
        <p:spPr>
          <a:xfrm>
            <a:off x="3572182" y="970871"/>
            <a:ext cx="1811459" cy="1069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Source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(e.g., EHR, HIE)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43" name="Picture 11">
            <a:extLst>
              <a:ext uri="{FF2B5EF4-FFF2-40B4-BE49-F238E27FC236}">
                <a16:creationId xmlns:a16="http://schemas.microsoft.com/office/drawing/2014/main" id="{360FF655-C32A-0A40-8C63-6C93DFFC4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267" y="1159554"/>
            <a:ext cx="1017213" cy="6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BEFA2044-EDB0-9942-8BB2-FEB6F5A3C57A}"/>
              </a:ext>
            </a:extLst>
          </p:cNvPr>
          <p:cNvSpPr/>
          <p:nvPr/>
        </p:nvSpPr>
        <p:spPr>
          <a:xfrm>
            <a:off x="3605304" y="3784150"/>
            <a:ext cx="1811459" cy="14644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Submitter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5FC16F-0B84-9848-B7CA-94F63BF57BE7}"/>
              </a:ext>
            </a:extLst>
          </p:cNvPr>
          <p:cNvSpPr/>
          <p:nvPr/>
        </p:nvSpPr>
        <p:spPr>
          <a:xfrm>
            <a:off x="6979762" y="4346267"/>
            <a:ext cx="1352925" cy="8418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Trusted Third Party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538E9-2646-A747-B04E-9BE6FDC8E143}"/>
              </a:ext>
            </a:extLst>
          </p:cNvPr>
          <p:cNvSpPr txBox="1"/>
          <p:nvPr/>
        </p:nvSpPr>
        <p:spPr>
          <a:xfrm>
            <a:off x="1918466" y="1856887"/>
            <a:ext cx="5870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Provider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C20FF-6D39-CC4E-A2AF-D5479DF1173E}"/>
              </a:ext>
            </a:extLst>
          </p:cNvPr>
          <p:cNvSpPr/>
          <p:nvPr/>
        </p:nvSpPr>
        <p:spPr>
          <a:xfrm>
            <a:off x="9582493" y="2733135"/>
            <a:ext cx="1282018" cy="26766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Receiver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(e.g., Central Cancer Registry)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9BAF63-CC92-4E4B-85C7-70BFDED2D900}"/>
              </a:ext>
            </a:extLst>
          </p:cNvPr>
          <p:cNvCxnSpPr>
            <a:cxnSpLocks/>
            <a:stCxn id="43" idx="3"/>
            <a:endCxn id="36" idx="1"/>
          </p:cNvCxnSpPr>
          <p:nvPr/>
        </p:nvCxnSpPr>
        <p:spPr>
          <a:xfrm>
            <a:off x="2818480" y="1500948"/>
            <a:ext cx="753702" cy="4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943A4E-8DD9-744F-96A1-5AD630599D06}"/>
              </a:ext>
            </a:extLst>
          </p:cNvPr>
          <p:cNvSpPr txBox="1"/>
          <p:nvPr/>
        </p:nvSpPr>
        <p:spPr>
          <a:xfrm>
            <a:off x="2911794" y="1025365"/>
            <a:ext cx="657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Updates/Sign off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166045-49C2-FD4F-9998-22C5BE37017E}"/>
              </a:ext>
            </a:extLst>
          </p:cNvPr>
          <p:cNvCxnSpPr>
            <a:cxnSpLocks/>
          </p:cNvCxnSpPr>
          <p:nvPr/>
        </p:nvCxnSpPr>
        <p:spPr>
          <a:xfrm>
            <a:off x="4066853" y="2049518"/>
            <a:ext cx="0" cy="1727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E83879-DF92-2E4F-9351-EF0FAF87E04E}"/>
              </a:ext>
            </a:extLst>
          </p:cNvPr>
          <p:cNvCxnSpPr>
            <a:cxnSpLocks/>
          </p:cNvCxnSpPr>
          <p:nvPr/>
        </p:nvCxnSpPr>
        <p:spPr>
          <a:xfrm flipH="1" flipV="1">
            <a:off x="4411872" y="2040535"/>
            <a:ext cx="9284" cy="1751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D1B7F814-98DF-7546-B7C9-73CB3D4B1A93}"/>
              </a:ext>
            </a:extLst>
          </p:cNvPr>
          <p:cNvCxnSpPr>
            <a:cxnSpLocks/>
          </p:cNvCxnSpPr>
          <p:nvPr/>
        </p:nvCxnSpPr>
        <p:spPr>
          <a:xfrm rot="10800000">
            <a:off x="5412394" y="4863734"/>
            <a:ext cx="1567368" cy="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3E30D16-E5F0-1049-A518-29146A5A9F28}"/>
              </a:ext>
            </a:extLst>
          </p:cNvPr>
          <p:cNvCxnSpPr>
            <a:cxnSpLocks/>
          </p:cNvCxnSpPr>
          <p:nvPr/>
        </p:nvCxnSpPr>
        <p:spPr>
          <a:xfrm>
            <a:off x="5415459" y="3838366"/>
            <a:ext cx="4167034" cy="18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316AAEAD-8C76-C24E-8FC1-E64861A88E24}"/>
              </a:ext>
            </a:extLst>
          </p:cNvPr>
          <p:cNvSpPr txBox="1"/>
          <p:nvPr/>
        </p:nvSpPr>
        <p:spPr>
          <a:xfrm>
            <a:off x="8068770" y="3625811"/>
            <a:ext cx="7633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Report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FFC0F9-98B0-C844-82E8-29C65787D214}"/>
              </a:ext>
            </a:extLst>
          </p:cNvPr>
          <p:cNvCxnSpPr>
            <a:cxnSpLocks/>
          </p:cNvCxnSpPr>
          <p:nvPr/>
        </p:nvCxnSpPr>
        <p:spPr>
          <a:xfrm flipV="1">
            <a:off x="5258238" y="2049518"/>
            <a:ext cx="0" cy="1727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65030E9-9F76-914A-9F80-3AB57A7A6B81}"/>
              </a:ext>
            </a:extLst>
          </p:cNvPr>
          <p:cNvSpPr txBox="1"/>
          <p:nvPr/>
        </p:nvSpPr>
        <p:spPr>
          <a:xfrm rot="5400000">
            <a:off x="4917579" y="2578946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Report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FB32AC-CFB2-5F4C-AD69-3D98FBB5A874}"/>
              </a:ext>
            </a:extLst>
          </p:cNvPr>
          <p:cNvSpPr/>
          <p:nvPr/>
        </p:nvSpPr>
        <p:spPr>
          <a:xfrm>
            <a:off x="6181388" y="3883840"/>
            <a:ext cx="9845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Report Response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0C44516-1333-C74F-AB2C-1B26BC9384AF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412394" y="4071484"/>
            <a:ext cx="4170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0D90C882-34CC-3F47-876A-15C116BC5317}"/>
              </a:ext>
            </a:extLst>
          </p:cNvPr>
          <p:cNvCxnSpPr>
            <a:cxnSpLocks/>
          </p:cNvCxnSpPr>
          <p:nvPr/>
        </p:nvCxnSpPr>
        <p:spPr>
          <a:xfrm>
            <a:off x="8332687" y="4555722"/>
            <a:ext cx="124980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3C81F428-310E-AF4A-9068-660BAC14F2C7}"/>
              </a:ext>
            </a:extLst>
          </p:cNvPr>
          <p:cNvCxnSpPr>
            <a:cxnSpLocks/>
          </p:cNvCxnSpPr>
          <p:nvPr/>
        </p:nvCxnSpPr>
        <p:spPr>
          <a:xfrm>
            <a:off x="8323132" y="5043543"/>
            <a:ext cx="1259361" cy="0"/>
          </a:xfrm>
          <a:prstGeom prst="straightConnector1">
            <a:avLst/>
          </a:prstGeom>
          <a:ln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26291C53-6A51-C74F-B1B9-009CE93394AE}"/>
              </a:ext>
            </a:extLst>
          </p:cNvPr>
          <p:cNvSpPr txBox="1"/>
          <p:nvPr/>
        </p:nvSpPr>
        <p:spPr>
          <a:xfrm>
            <a:off x="2802310" y="5353797"/>
            <a:ext cx="21105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Source Organization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ACA3521-AF2A-9A48-86E9-4C978C80A086}"/>
              </a:ext>
            </a:extLst>
          </p:cNvPr>
          <p:cNvSpPr txBox="1"/>
          <p:nvPr/>
        </p:nvSpPr>
        <p:spPr>
          <a:xfrm>
            <a:off x="5829074" y="144952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F9C6038-CE81-3C49-96FD-829F02A462F8}"/>
              </a:ext>
            </a:extLst>
          </p:cNvPr>
          <p:cNvCxnSpPr>
            <a:cxnSpLocks/>
          </p:cNvCxnSpPr>
          <p:nvPr/>
        </p:nvCxnSpPr>
        <p:spPr>
          <a:xfrm flipH="1" flipV="1">
            <a:off x="3676476" y="2040535"/>
            <a:ext cx="18748" cy="1735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D45DA31-413F-7D41-BF43-F0B606725107}"/>
              </a:ext>
            </a:extLst>
          </p:cNvPr>
          <p:cNvSpPr txBox="1"/>
          <p:nvPr/>
        </p:nvSpPr>
        <p:spPr>
          <a:xfrm>
            <a:off x="7624195" y="3051166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799AB7E-52C1-484F-8893-C2E26E197E13}"/>
              </a:ext>
            </a:extLst>
          </p:cNvPr>
          <p:cNvSpPr txBox="1"/>
          <p:nvPr/>
        </p:nvSpPr>
        <p:spPr>
          <a:xfrm>
            <a:off x="7185504" y="2391368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79586C5-E22C-7C40-BE34-C6DEB3655BF3}"/>
              </a:ext>
            </a:extLst>
          </p:cNvPr>
          <p:cNvSpPr txBox="1"/>
          <p:nvPr/>
        </p:nvSpPr>
        <p:spPr>
          <a:xfrm rot="5400000">
            <a:off x="3775541" y="2910581"/>
            <a:ext cx="7553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Notification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A7E785B-6B1C-0644-A214-1BC97314A49E}"/>
              </a:ext>
            </a:extLst>
          </p:cNvPr>
          <p:cNvSpPr txBox="1"/>
          <p:nvPr/>
        </p:nvSpPr>
        <p:spPr>
          <a:xfrm rot="5400000">
            <a:off x="3160185" y="2663026"/>
            <a:ext cx="1188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Notification Creation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D5ADA42E-91BC-5440-972E-11728429AC3C}"/>
              </a:ext>
            </a:extLst>
          </p:cNvPr>
          <p:cNvCxnSpPr>
            <a:cxnSpLocks/>
          </p:cNvCxnSpPr>
          <p:nvPr/>
        </p:nvCxnSpPr>
        <p:spPr>
          <a:xfrm flipV="1">
            <a:off x="4844411" y="2049518"/>
            <a:ext cx="0" cy="172701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07AEBA68-C2D2-F24C-A7B3-0DAE745C0C23}"/>
              </a:ext>
            </a:extLst>
          </p:cNvPr>
          <p:cNvSpPr txBox="1"/>
          <p:nvPr/>
        </p:nvSpPr>
        <p:spPr>
          <a:xfrm rot="5400000">
            <a:off x="4289051" y="2905966"/>
            <a:ext cx="1279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Queries Response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2A1A0F3-EBEF-E647-9DC0-13FC459781FC}"/>
              </a:ext>
            </a:extLst>
          </p:cNvPr>
          <p:cNvSpPr txBox="1"/>
          <p:nvPr/>
        </p:nvSpPr>
        <p:spPr>
          <a:xfrm>
            <a:off x="6142230" y="4219934"/>
            <a:ext cx="7633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Report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B422C1B7-5C06-5A44-8F35-93B734569014}"/>
              </a:ext>
            </a:extLst>
          </p:cNvPr>
          <p:cNvSpPr/>
          <p:nvPr/>
        </p:nvSpPr>
        <p:spPr>
          <a:xfrm>
            <a:off x="5602719" y="4545356"/>
            <a:ext cx="730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Report Response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F16BB7C-C251-974F-B68D-64C03FA2869A}"/>
              </a:ext>
            </a:extLst>
          </p:cNvPr>
          <p:cNvSpPr txBox="1"/>
          <p:nvPr/>
        </p:nvSpPr>
        <p:spPr>
          <a:xfrm>
            <a:off x="8889392" y="4258517"/>
            <a:ext cx="555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Report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5B5B967-83C4-BD45-9D71-9FB8C9C17328}"/>
              </a:ext>
            </a:extLst>
          </p:cNvPr>
          <p:cNvSpPr/>
          <p:nvPr/>
        </p:nvSpPr>
        <p:spPr>
          <a:xfrm>
            <a:off x="8441356" y="4743974"/>
            <a:ext cx="103321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Report Response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E7C149A-B6A9-5FCD-C84B-D3D6AE8B6103}"/>
              </a:ext>
            </a:extLst>
          </p:cNvPr>
          <p:cNvSpPr/>
          <p:nvPr/>
        </p:nvSpPr>
        <p:spPr>
          <a:xfrm>
            <a:off x="7577263" y="3685129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7DC1085-BAD0-3ACD-C85C-34DDE78540AD}"/>
              </a:ext>
            </a:extLst>
          </p:cNvPr>
          <p:cNvSpPr/>
          <p:nvPr/>
        </p:nvSpPr>
        <p:spPr>
          <a:xfrm>
            <a:off x="7168035" y="3927845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9F911B4-9A3C-31A6-A55E-B8C329236D1B}"/>
              </a:ext>
            </a:extLst>
          </p:cNvPr>
          <p:cNvSpPr/>
          <p:nvPr/>
        </p:nvSpPr>
        <p:spPr>
          <a:xfrm>
            <a:off x="8557561" y="4404397"/>
            <a:ext cx="640402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25359E3-2C95-9C43-DB79-DA6AA38CFB7D}"/>
              </a:ext>
            </a:extLst>
          </p:cNvPr>
          <p:cNvSpPr/>
          <p:nvPr/>
        </p:nvSpPr>
        <p:spPr>
          <a:xfrm>
            <a:off x="8715581" y="4924030"/>
            <a:ext cx="590837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F7C622E-F90D-5DFC-6067-8D8B1EE5634D}"/>
              </a:ext>
            </a:extLst>
          </p:cNvPr>
          <p:cNvSpPr/>
          <p:nvPr/>
        </p:nvSpPr>
        <p:spPr>
          <a:xfrm>
            <a:off x="6174034" y="4738594"/>
            <a:ext cx="614510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C43997B-41B2-1CB9-8E76-F99D1210A83C}"/>
              </a:ext>
            </a:extLst>
          </p:cNvPr>
          <p:cNvSpPr/>
          <p:nvPr/>
        </p:nvSpPr>
        <p:spPr>
          <a:xfrm>
            <a:off x="5678549" y="4312811"/>
            <a:ext cx="599411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B6D0A25-3CA8-0F84-4F0C-303E8E6F6625}"/>
              </a:ext>
            </a:extLst>
          </p:cNvPr>
          <p:cNvSpPr/>
          <p:nvPr/>
        </p:nvSpPr>
        <p:spPr>
          <a:xfrm>
            <a:off x="5008300" y="3339249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5CE636C-EFBD-54D7-CB87-6217893187B6}"/>
              </a:ext>
            </a:extLst>
          </p:cNvPr>
          <p:cNvSpPr/>
          <p:nvPr/>
        </p:nvSpPr>
        <p:spPr>
          <a:xfrm>
            <a:off x="4601820" y="2146963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23E9A3C-FE6E-AE59-2B2C-C380B051736A}"/>
              </a:ext>
            </a:extLst>
          </p:cNvPr>
          <p:cNvSpPr/>
          <p:nvPr/>
        </p:nvSpPr>
        <p:spPr>
          <a:xfrm>
            <a:off x="4209147" y="3301771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2EACD01-A612-329A-1B89-5E870C1D2221}"/>
              </a:ext>
            </a:extLst>
          </p:cNvPr>
          <p:cNvSpPr/>
          <p:nvPr/>
        </p:nvSpPr>
        <p:spPr>
          <a:xfrm>
            <a:off x="3820097" y="2116874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D2F6A1F-A63E-FEDA-29F2-DAA28453724D}"/>
              </a:ext>
            </a:extLst>
          </p:cNvPr>
          <p:cNvSpPr/>
          <p:nvPr/>
        </p:nvSpPr>
        <p:spPr>
          <a:xfrm>
            <a:off x="3460989" y="3311440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DFFF2915-1D58-14D7-E57D-DF964288D61D}"/>
              </a:ext>
            </a:extLst>
          </p:cNvPr>
          <p:cNvSpPr/>
          <p:nvPr/>
        </p:nvSpPr>
        <p:spPr>
          <a:xfrm>
            <a:off x="2920700" y="1364764"/>
            <a:ext cx="485778" cy="2641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4920D-4504-FDF9-BE9C-498374A53A73}"/>
              </a:ext>
            </a:extLst>
          </p:cNvPr>
          <p:cNvSpPr txBox="1"/>
          <p:nvPr/>
        </p:nvSpPr>
        <p:spPr>
          <a:xfrm rot="5400000">
            <a:off x="4098770" y="2847677"/>
            <a:ext cx="8354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Queries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8D2D7E3-B0F4-21D3-54CD-C84A746DDE10}"/>
              </a:ext>
            </a:extLst>
          </p:cNvPr>
          <p:cNvSpPr/>
          <p:nvPr/>
        </p:nvSpPr>
        <p:spPr>
          <a:xfrm>
            <a:off x="9349144" y="2506784"/>
            <a:ext cx="1810916" cy="32427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5DADEAE-43FF-E3FB-0081-13A9D0F1C08B}"/>
              </a:ext>
            </a:extLst>
          </p:cNvPr>
          <p:cNvSpPr txBox="1"/>
          <p:nvPr/>
        </p:nvSpPr>
        <p:spPr>
          <a:xfrm>
            <a:off x="9517419" y="5508291"/>
            <a:ext cx="1596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Receiver Organization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99F270F2-2D90-D45E-E589-313704797D49}"/>
              </a:ext>
            </a:extLst>
          </p:cNvPr>
          <p:cNvSpPr/>
          <p:nvPr/>
        </p:nvSpPr>
        <p:spPr>
          <a:xfrm flipH="1">
            <a:off x="6857961" y="4246563"/>
            <a:ext cx="1624271" cy="129868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0CA4F43-4C85-E5F3-D2A0-A93BB8AC7851}"/>
              </a:ext>
            </a:extLst>
          </p:cNvPr>
          <p:cNvSpPr txBox="1"/>
          <p:nvPr/>
        </p:nvSpPr>
        <p:spPr>
          <a:xfrm>
            <a:off x="7080544" y="5249978"/>
            <a:ext cx="11825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Trusted Third Party</a:t>
            </a:r>
          </a:p>
        </p:txBody>
      </p:sp>
    </p:spTree>
    <p:extLst>
      <p:ext uri="{BB962C8B-B14F-4D97-AF65-F5344CB8AC3E}">
        <p14:creationId xmlns:p14="http://schemas.microsoft.com/office/powerpoint/2010/main" val="2922954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AC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28289</TotalTime>
  <Words>1065</Words>
  <Application>Microsoft Office PowerPoint</Application>
  <PresentationFormat>Widescreen</PresentationFormat>
  <Paragraphs>188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Constantia</vt:lpstr>
      <vt:lpstr>Wingdings 2</vt:lpstr>
      <vt:lpstr>ESAC Theme</vt:lpstr>
      <vt:lpstr>1_Office Theme</vt:lpstr>
      <vt:lpstr>PowerPoint Presentation</vt:lpstr>
      <vt:lpstr>Cancer Actors and Systems Interaction Descriptions</vt:lpstr>
      <vt:lpstr>PowerPoint Presentation</vt:lpstr>
      <vt:lpstr>Central Cancer Registry Reporting Actors and Systems when the Data Submitter is integrated with the Data Source</vt:lpstr>
      <vt:lpstr>PowerPoint Presentation</vt:lpstr>
      <vt:lpstr>OLD SLIDES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Becky Angeles</dc:creator>
  <cp:lastModifiedBy>Wendy Blumenthal</cp:lastModifiedBy>
  <cp:revision>21</cp:revision>
  <dcterms:created xsi:type="dcterms:W3CDTF">2025-07-25T18:43:49Z</dcterms:created>
  <dcterms:modified xsi:type="dcterms:W3CDTF">2026-08-24T12:54:25Z</dcterms:modified>
</cp:coreProperties>
</file>